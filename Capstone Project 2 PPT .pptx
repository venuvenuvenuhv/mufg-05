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70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  <p:sldId id="27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79106-F635-453E-8BA0-E6B668AF8050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47402-4F5F-4B9C-AAE0-313DFBBA322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79106-F635-453E-8BA0-E6B668AF8050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47402-4F5F-4B9C-AAE0-313DFBBA322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79106-F635-453E-8BA0-E6B668AF8050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47402-4F5F-4B9C-AAE0-313DFBBA322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79106-F635-453E-8BA0-E6B668AF8050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47402-4F5F-4B9C-AAE0-313DFBBA322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79106-F635-453E-8BA0-E6B668AF8050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47402-4F5F-4B9C-AAE0-313DFBBA322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79106-F635-453E-8BA0-E6B668AF8050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47402-4F5F-4B9C-AAE0-313DFBBA322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79106-F635-453E-8BA0-E6B668AF8050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47402-4F5F-4B9C-AAE0-313DFBBA322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79106-F635-453E-8BA0-E6B668AF8050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47402-4F5F-4B9C-AAE0-313DFBBA322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79106-F635-453E-8BA0-E6B668AF8050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47402-4F5F-4B9C-AAE0-313DFBBA322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79106-F635-453E-8BA0-E6B668AF8050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47402-4F5F-4B9C-AAE0-313DFBBA322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79106-F635-453E-8BA0-E6B668AF8050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47402-4F5F-4B9C-AAE0-313DFBBA322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279106-F635-453E-8BA0-E6B668AF8050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447402-4F5F-4B9C-AAE0-313DFBBA3223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heart-disease-detection-eyjuwimgd5rr2hr2efv5lp.streamlit.app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7146" y="1538312"/>
            <a:ext cx="9144000" cy="1654627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</a:pPr>
            <a:br>
              <a:rPr lang="en-US" sz="2800" b="1" dirty="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</a:br>
            <a:br>
              <a:rPr lang="en-US" sz="2800" b="1" dirty="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</a:br>
            <a:br>
              <a:rPr lang="en-US" sz="2800" b="1" dirty="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</a:br>
            <a:br>
              <a:rPr lang="en-US" sz="2800" b="1" dirty="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</a:br>
            <a:br>
              <a:rPr lang="en-US" sz="2800" b="1" dirty="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</a:br>
            <a:r>
              <a:rPr lang="en-US" sz="4400" b="1" dirty="0">
                <a:solidFill>
                  <a:srgbClr val="0C3571"/>
                </a:solidFill>
                <a:latin typeface="Times New Roman" panose="02020603050405020304" pitchFamily="18" charset="0"/>
                <a:ea typeface="Anantason Bold"/>
                <a:cs typeface="Times New Roman" panose="02020603050405020304" pitchFamily="18" charset="0"/>
                <a:sym typeface="Anantason Bold"/>
              </a:rPr>
              <a:t>Capstone Project2</a:t>
            </a:r>
            <a:br>
              <a:rPr lang="en-US" sz="4400" b="1" dirty="0">
                <a:solidFill>
                  <a:srgbClr val="0C3571"/>
                </a:solidFill>
                <a:latin typeface="Times New Roman" panose="02020603050405020304" pitchFamily="18" charset="0"/>
                <a:ea typeface="Anantason Bold"/>
                <a:cs typeface="Times New Roman" panose="02020603050405020304" pitchFamily="18" charset="0"/>
                <a:sym typeface="Anantason Bold"/>
              </a:rPr>
            </a:br>
            <a:r>
              <a:rPr lang="en-US" sz="4400" b="1" dirty="0">
                <a:solidFill>
                  <a:srgbClr val="0C3571"/>
                </a:solidFill>
                <a:latin typeface="Times New Roman" panose="02020603050405020304" pitchFamily="18" charset="0"/>
                <a:ea typeface="Anantason Bold"/>
                <a:cs typeface="Times New Roman" panose="02020603050405020304" pitchFamily="18" charset="0"/>
                <a:sym typeface="Anantason Bold"/>
              </a:rPr>
              <a:t>HEART DISEASE DETECTION</a:t>
            </a:r>
            <a:endParaRPr lang="en-IN" sz="4400" dirty="0"/>
          </a:p>
        </p:txBody>
      </p:sp>
      <p:sp>
        <p:nvSpPr>
          <p:cNvPr id="4" name="TextBox 3"/>
          <p:cNvSpPr txBox="1"/>
          <p:nvPr/>
        </p:nvSpPr>
        <p:spPr>
          <a:xfrm>
            <a:off x="8066315" y="4365580"/>
            <a:ext cx="4125685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200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Members</a:t>
            </a:r>
          </a:p>
          <a:p>
            <a:pPr lvl="0"/>
            <a:endParaRPr lang="en-IN" sz="2000" dirty="0"/>
          </a:p>
          <a:p>
            <a:pPr lvl="0"/>
            <a:r>
              <a:rPr lang="en-IN" sz="2000" dirty="0">
                <a:solidFill>
                  <a:srgbClr val="2F5496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T120100528 : Vijay M</a:t>
            </a:r>
          </a:p>
          <a:p>
            <a:pPr lvl="0"/>
            <a:r>
              <a:rPr lang="en-IN" sz="2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T120100508 : Venu H V</a:t>
            </a:r>
          </a:p>
          <a:p>
            <a:pPr lvl="0"/>
            <a:r>
              <a:rPr lang="en-IN" sz="2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T120100529 : Munikrishna G M</a:t>
            </a:r>
          </a:p>
          <a:p>
            <a:endParaRPr lang="en-US" altLang="en-IN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2571" y="304800"/>
            <a:ext cx="1578429" cy="105591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925286" y="576331"/>
            <a:ext cx="10417628" cy="5724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IN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Intoduction</a:t>
            </a:r>
            <a:endParaRPr lang="en-IN" sz="28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 of the Project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generation &amp; Loading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Exploration &amp; Understanding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&amp; Feature Engineering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Building &amp; Training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 &amp; Performance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 API Deployment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2571" y="304800"/>
            <a:ext cx="1578429" cy="105591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522028" y="4225385"/>
            <a:ext cx="41256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en-IN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2571" y="304800"/>
            <a:ext cx="1578429" cy="1055914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381000" y="385666"/>
            <a:ext cx="11442700" cy="11690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GB" sz="4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INTRODUCTION</a:t>
            </a:r>
          </a:p>
          <a:p>
            <a:endParaRPr lang="en-US" altLang="en-GB" sz="40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GB" sz="20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Heart disease is one of the major health problems worldwide, and early detection is important to improve patient outcomes. The goal of this project is to predict whether a patient has heart disease using clinical measurements and diagnostic test results such as blood pressure, cholesterol, ECG results, and exercise data. By building a machine learning classification model, the system aims to support doctors in making faster and more accurate clinical decisions</a:t>
            </a:r>
            <a:r>
              <a:rPr lang="en-US" altLang="en-GB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925286" y="566057"/>
            <a:ext cx="10417628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4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endParaRPr lang="en-IN" sz="40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a patient’s clinical and diagnostic test results such as blood pressure, cholesterol level, ECG results, and exercise capacity, the task is to develop a machine learning model that accurately predicts whether the patient has heart disease (1) or not (0). The objective is to assist healthcare professionals in identifying high-risk patients early using data-driven predictions.</a:t>
            </a:r>
            <a:endParaRPr lang="en-US" altLang="en-GB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2571" y="304800"/>
            <a:ext cx="1578429" cy="105591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925286" y="566057"/>
            <a:ext cx="10417628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 of the Project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includes: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 and preprocessing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multiple classification models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comparison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Selecting best model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deployment using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used: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 Machine (SVM)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2571" y="304800"/>
            <a:ext cx="1578429" cy="105591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925286" y="566057"/>
            <a:ext cx="10417628" cy="59391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generation &amp; Loading</a:t>
            </a:r>
            <a:r>
              <a:rPr lang="en-US" altLang="en-GB" sz="4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US" altLang="en-GB" sz="20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GB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project uses a comprehensive heart disease dataset sourced from publicly available clinical repositories.</a:t>
            </a:r>
          </a:p>
          <a:p>
            <a:endParaRPr lang="en-US" altLang="en-GB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GB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includes 400 patient records, each with 13 clinical features such as age, sex, cholesterol, blood pressure, and ECG results.</a:t>
            </a:r>
          </a:p>
          <a:p>
            <a:endParaRPr lang="en-US" altLang="en-GB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GB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acquisition ensured no missing values, enabling a smoother preparation process.</a:t>
            </a:r>
          </a:p>
          <a:p>
            <a:endParaRPr lang="en-US" altLang="en-GB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GB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dataset was loaded into the environment using Python's Pandas library, allowing for efficient manipulation and analysis.</a:t>
            </a:r>
          </a:p>
          <a:p>
            <a:endParaRPr lang="en-US" altLang="en-GB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GB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 data inspection confirmed correct data types and consistent formatting for all features.</a:t>
            </a:r>
          </a:p>
          <a:p>
            <a:endParaRPr lang="en-US" altLang="en-GB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GB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Efficient data loading and validation lay the groundwork for subsequent data exploration and modeling</a:t>
            </a:r>
          </a:p>
          <a:p>
            <a:endParaRPr lang="en-US" altLang="en-GB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2571" y="304800"/>
            <a:ext cx="1578429" cy="105591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925286" y="566057"/>
            <a:ext cx="10417628" cy="5754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Exploration &amp; Understanding</a:t>
            </a:r>
          </a:p>
          <a:p>
            <a:endParaRPr lang="en-IN" sz="40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GB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US" altLang="en-GB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dataset includes 13 features (age, sex, chest pain type, blood pressure, cholesterol, ECG, etc.), providing a broad view of heart health indicators.</a:t>
            </a:r>
          </a:p>
          <a:p>
            <a:endParaRPr lang="en-US" altLang="en-GB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GB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•No missing values, stable ranges—e.g., age from 29 to 77, cholesterol from 120 to 564 mg/dl.</a:t>
            </a:r>
          </a:p>
          <a:p>
            <a:endParaRPr lang="en-US" altLang="en-GB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GB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•Visual exploration revealed most patients are male and chest pain type 'asymptomatic' is most common.</a:t>
            </a:r>
          </a:p>
          <a:p>
            <a:endParaRPr lang="en-US" altLang="en-GB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GB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•Key categorical and numerical features distributed evenly—ready for advanced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en-GB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analysis.</a:t>
            </a:r>
          </a:p>
          <a:p>
            <a:endParaRPr lang="en-US" altLang="en-GB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2571" y="304800"/>
            <a:ext cx="1578429" cy="105591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925286" y="566057"/>
            <a:ext cx="10417628" cy="5631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</a:t>
            </a:r>
            <a:endParaRPr lang="en-US" altLang="en-GB" sz="40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GB" sz="20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GB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Purpose of EDA: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GB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 dataset and how features relate to heart disease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GB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Spot unusual values or outliers</a:t>
            </a:r>
          </a:p>
          <a:p>
            <a:r>
              <a:rPr lang="en-US" altLang="en-GB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Target Variable Analysis: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GB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 how many patients have heart disease (1) and how many don't (0)</a:t>
            </a:r>
          </a:p>
          <a:p>
            <a:r>
              <a:rPr lang="en-US" altLang="en-GB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Feature Analysis</a:t>
            </a:r>
            <a:r>
              <a:rPr lang="en-US" altLang="en-GB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GB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Numerical features: age, cholesterol, blood pressure, max heart rate, ST depression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GB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Categorical features: chest pain type, thalassemia, resting ECG, exercise-induced angina</a:t>
            </a:r>
          </a:p>
          <a:p>
            <a:r>
              <a:rPr lang="en-US" altLang="en-GB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Correlation Analysis:</a:t>
            </a:r>
            <a:endParaRPr lang="en-US" altLang="en-GB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GB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Checked which features are strongly related to heart disease.</a:t>
            </a:r>
          </a:p>
          <a:p>
            <a:r>
              <a:rPr lang="en-US" altLang="en-GB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Visuals to Show: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GB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Bar chart of target variable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GB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Heatmap of feature correlations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GB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Boxplots/histograms of numerical features</a:t>
            </a:r>
          </a:p>
          <a:p>
            <a:endParaRPr lang="en-US" altLang="en-GB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2571" y="304800"/>
            <a:ext cx="1578429" cy="105591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925286" y="566057"/>
            <a:ext cx="10417628" cy="5554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4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&amp; Feature Engineering</a:t>
            </a:r>
          </a:p>
          <a:p>
            <a:endParaRPr lang="en-US" altLang="en-GB" sz="20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GB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Handle Missing Values: No missing data found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GB" sz="2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GB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Encode Categorical Variables: Converted chest pain, ECG, thal, etc. into numbers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GB" sz="2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GB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Scaling: Standardized cholesterol, BP, max heart rate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GB" sz="2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GB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Splitting: 80% training, 20% testing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GB" sz="2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GB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Selection: Chose important features based on correlation</a:t>
            </a:r>
          </a:p>
          <a:p>
            <a:endParaRPr lang="en-US" altLang="en-GB" sz="2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2571" y="304800"/>
            <a:ext cx="1578429" cy="105591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925195" y="304800"/>
            <a:ext cx="10417810" cy="68154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IN" sz="4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Building &amp; Training</a:t>
            </a:r>
          </a:p>
          <a:p>
            <a:r>
              <a:rPr lang="en-US" alt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Initialize Models</a:t>
            </a:r>
          </a:p>
          <a:p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</a:t>
            </a:r>
          </a:p>
          <a:p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</a:t>
            </a:r>
          </a:p>
          <a:p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️</a:t>
            </a:r>
            <a:endParaRPr lang="en-US" alt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 Machine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️</a:t>
            </a:r>
          </a:p>
          <a:p>
            <a:endParaRPr lang="en-US" alt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Train Models</a:t>
            </a:r>
          </a:p>
          <a:p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 dataset: 80% training, 20% testing</a:t>
            </a:r>
          </a:p>
          <a:p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X_train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patient features (age, blood pressure, cholesterol…)</a:t>
            </a:r>
          </a:p>
          <a:p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y_train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labels (0 = No disease, 1 = Heart disease)</a:t>
            </a:r>
          </a:p>
          <a:p>
            <a:endParaRPr lang="en-US" alt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 Make Predictions</a:t>
            </a:r>
          </a:p>
          <a:p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y_pred = model.predict(X_test)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Predict yes/no for new patients</a:t>
            </a:r>
          </a:p>
          <a:p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y_prob = model.predict_proba(X_test)[:,1]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Gives probability of heart disease</a:t>
            </a:r>
          </a:p>
          <a:p>
            <a:endParaRPr lang="en-US" altLang="en-GB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 Hyperparameter Tuning</a:t>
            </a:r>
          </a:p>
          <a:p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GridSearchCV to find the best set of model parameters</a:t>
            </a:r>
          </a:p>
          <a:p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retrained with optimal parameters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improved accuracy and reliability</a:t>
            </a:r>
          </a:p>
          <a:p>
            <a:endParaRPr lang="en-US" alt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2571" y="304800"/>
            <a:ext cx="1578429" cy="105591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925195" y="304165"/>
            <a:ext cx="10417810" cy="68160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IN" sz="4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 &amp; Performance Analysis</a:t>
            </a:r>
          </a:p>
          <a:p>
            <a:endParaRPr lang="en-US" altLang="en-GB" sz="20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GB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1: Evaluation Metrics</a:t>
            </a:r>
          </a:p>
          <a:p>
            <a:r>
              <a:rPr lang="en-US" altLang="en-GB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 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en-GB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How many predictions were correct</a:t>
            </a:r>
          </a:p>
          <a:p>
            <a:r>
              <a:rPr lang="en-US" altLang="en-GB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Precision 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en-GB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How many predicted heart disease cases were actually correct</a:t>
            </a:r>
          </a:p>
          <a:p>
            <a:r>
              <a:rPr lang="en-US" altLang="en-GB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Recall 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en-GB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How many actual heart disease cases were identified</a:t>
            </a:r>
          </a:p>
          <a:p>
            <a:r>
              <a:rPr lang="en-US" altLang="en-GB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F1-Score 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en-GB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Balance between Precision &amp; Recall</a:t>
            </a:r>
          </a:p>
          <a:p>
            <a:r>
              <a:rPr lang="en-US" altLang="en-GB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ROC-AUC 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en-GB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Measures model’s ability to rank patients from least to most likely to have disease</a:t>
            </a:r>
          </a:p>
          <a:p>
            <a:endParaRPr lang="en-US" altLang="en-GB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GB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2: Confusion Matrix</a:t>
            </a:r>
          </a:p>
          <a:p>
            <a:r>
              <a:rPr lang="en-US" altLang="en-GB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Shows True Positives, True Negatives, False Positives, False Negatives</a:t>
            </a:r>
          </a:p>
          <a:p>
            <a:r>
              <a:rPr lang="en-US" altLang="en-GB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Helps understand where the model is making mistakes</a:t>
            </a:r>
          </a:p>
          <a:p>
            <a:endParaRPr lang="en-US" altLang="en-GB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GB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3: Feature Importance</a:t>
            </a:r>
          </a:p>
          <a:p>
            <a:r>
              <a:rPr lang="en-US" altLang="en-GB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&amp; Random Forest 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en-GB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Identify which features most impact predictions</a:t>
            </a:r>
          </a:p>
          <a:p>
            <a:r>
              <a:rPr lang="en-US" altLang="en-GB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Chest pain type, maximum heart rate, cholesterol</a:t>
            </a:r>
          </a:p>
          <a:p>
            <a:r>
              <a:rPr lang="en-US" altLang="en-GB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4: Performance Summary</a:t>
            </a:r>
          </a:p>
          <a:p>
            <a:r>
              <a:rPr lang="en-US" altLang="en-GB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Compare all models on metrics above</a:t>
            </a:r>
          </a:p>
          <a:p>
            <a:r>
              <a:rPr lang="en-US" altLang="en-GB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Best performing model chosen based on ROC-AUC and F1-Score</a:t>
            </a:r>
          </a:p>
          <a:p>
            <a:endParaRPr lang="en-US" altLang="en-GB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2571" y="304800"/>
            <a:ext cx="1578429" cy="105591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925195" y="565785"/>
            <a:ext cx="11267440" cy="5169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4000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4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Deployment</a:t>
            </a:r>
          </a:p>
          <a:p>
            <a:endParaRPr lang="en-US" altLang="en-GB" sz="20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GB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Python apps quickly with app.py.</a:t>
            </a:r>
          </a:p>
          <a:p>
            <a:endParaRPr lang="en-US" altLang="en-GB" sz="2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GB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 locally: streamlit run app.py.</a:t>
            </a:r>
          </a:p>
          <a:p>
            <a:endParaRPr lang="en-US" altLang="en-GB" sz="2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GB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 on: Streamlit Cloud, Heroku, or AWS/GCP/Azure.</a:t>
            </a:r>
          </a:p>
          <a:p>
            <a:endParaRPr lang="en-US" altLang="en-GB" sz="2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GB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Pros: Easy, fast setup, no frontend needed.</a:t>
            </a:r>
          </a:p>
          <a:p>
            <a:endParaRPr lang="en-US" altLang="en-GB" sz="2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GB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Cons: Limited customization, not for heavy APIs.</a:t>
            </a:r>
          </a:p>
          <a:p>
            <a:endParaRPr lang="en-US" altLang="en-GB" sz="2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2571" y="304800"/>
            <a:ext cx="1578429" cy="105591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8685" y="1972310"/>
            <a:ext cx="3282315" cy="26797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925195" y="565785"/>
            <a:ext cx="10977245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endParaRPr lang="en-IN" sz="40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successfully developed multiple machine learning models to predict heart disease using clinical data. Model comparison showed that Random Forest provided the best performance. The deployment using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enables real-time prediction. Overall, the system helps support early diagnosis and data-driven healthcare decision-making.</a:t>
            </a:r>
            <a:endParaRPr lang="en-US" altLang="en-GB" sz="2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2571" y="304800"/>
            <a:ext cx="1578429" cy="105591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D110C-D4AF-0A2C-3826-C4CCA1890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7158" y="2770848"/>
            <a:ext cx="5172182" cy="10819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Implementation</a:t>
            </a:r>
            <a:endParaRPr lang="en-IN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DE2601-D720-5E7A-32E4-54ED1F2BC7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2571" y="304800"/>
            <a:ext cx="1578429" cy="105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99648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1015</Words>
  <Application>Microsoft Office PowerPoint</Application>
  <PresentationFormat>Widescreen</PresentationFormat>
  <Paragraphs>143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Anantason Bold</vt:lpstr>
      <vt:lpstr>Arial</vt:lpstr>
      <vt:lpstr>Calibri</vt:lpstr>
      <vt:lpstr>Calibri Light</vt:lpstr>
      <vt:lpstr>Times New Roman</vt:lpstr>
      <vt:lpstr>Office Theme</vt:lpstr>
      <vt:lpstr>     Capstone Project2 HEART DISEASE DETECTION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TNS INDIA FOUNDATION</dc:creator>
  <cp:lastModifiedBy>Vijay M</cp:lastModifiedBy>
  <cp:revision>15</cp:revision>
  <dcterms:created xsi:type="dcterms:W3CDTF">2025-09-02T04:26:00Z</dcterms:created>
  <dcterms:modified xsi:type="dcterms:W3CDTF">2026-02-21T17:48:37Z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4215A8468C814C4E9813C862E1C7C80B_12</vt:lpwstr>
  </property>
  <property fmtid="{D5CDD505-2E9C-101B-9397-08002B2CF9AE}" pid="3" name="KSOProductBuildVer">
    <vt:lpwstr>1033-12.2.0.22549</vt:lpwstr>
  </property>
</Properties>
</file>