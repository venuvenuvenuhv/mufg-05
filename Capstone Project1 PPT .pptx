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56" r:id="rId2"/>
    <p:sldId id="257" r:id="rId3"/>
    <p:sldId id="269" r:id="rId4"/>
    <p:sldId id="258" r:id="rId5"/>
    <p:sldId id="259" r:id="rId6"/>
    <p:sldId id="260" r:id="rId7"/>
    <p:sldId id="261" r:id="rId8"/>
    <p:sldId id="262" r:id="rId9"/>
    <p:sldId id="263" r:id="rId10"/>
    <p:sldId id="264" r:id="rId11"/>
    <p:sldId id="265" r:id="rId12"/>
    <p:sldId id="266" r:id="rId13"/>
    <p:sldId id="268"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 roundtripDataSignature="AMtx7mjVbKSE3o/eYBIKbAgkcIW7PGNBe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8cdb4fd196_2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g38cdb4fd196_2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4"/>
          <p:cNvSpPr>
            <a:spLocks noGrp="1"/>
          </p:cNvSpPr>
          <p:nvPr>
            <p:ph type="pic" idx="2"/>
          </p:nvPr>
        </p:nvSpPr>
        <p:spPr>
          <a:xfrm>
            <a:off x="5183188" y="987425"/>
            <a:ext cx="6172200" cy="4873625"/>
          </a:xfrm>
          <a:prstGeom prst="rect">
            <a:avLst/>
          </a:prstGeom>
          <a:noFill/>
          <a:ln>
            <a:noFill/>
          </a:ln>
        </p:spPr>
      </p:sp>
      <p:sp>
        <p:nvSpPr>
          <p:cNvPr id="64" name="Google Shape;64;p2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2870212"/>
            <a:ext cx="9144000" cy="1654500"/>
          </a:xfrm>
          <a:prstGeom prst="rect">
            <a:avLst/>
          </a:prstGeom>
          <a:noFill/>
          <a:ln>
            <a:noFill/>
          </a:ln>
        </p:spPr>
        <p:txBody>
          <a:bodyPr spcFirstLastPara="1" wrap="square" lIns="91425" tIns="45700" rIns="91425" bIns="45700" anchor="b" anchorCtr="0">
            <a:noAutofit/>
          </a:bodyPr>
          <a:lstStyle/>
          <a:p>
            <a:pPr marL="0" lvl="0" indent="0" algn="ctr" rtl="0">
              <a:lnSpc>
                <a:spcPct val="200000"/>
              </a:lnSpc>
              <a:spcBef>
                <a:spcPts val="0"/>
              </a:spcBef>
              <a:spcAft>
                <a:spcPts val="0"/>
              </a:spcAft>
              <a:buClr>
                <a:srgbClr val="0C3571"/>
              </a:buClr>
              <a:buSzPts val="2800"/>
              <a:buFont typeface="Anta"/>
              <a:buNone/>
            </a:pPr>
            <a:br>
              <a:rPr lang="en-IN" sz="2800" b="1" dirty="0">
                <a:solidFill>
                  <a:srgbClr val="0C3571"/>
                </a:solidFill>
                <a:latin typeface="Anta"/>
                <a:ea typeface="Anta"/>
                <a:cs typeface="Anta"/>
                <a:sym typeface="Anta"/>
              </a:rPr>
            </a:br>
            <a:br>
              <a:rPr lang="en-IN" sz="2800" b="1" dirty="0">
                <a:solidFill>
                  <a:srgbClr val="0C3571"/>
                </a:solidFill>
                <a:latin typeface="Anta"/>
                <a:ea typeface="Anta"/>
                <a:cs typeface="Anta"/>
                <a:sym typeface="Anta"/>
              </a:rPr>
            </a:br>
            <a:br>
              <a:rPr lang="en-IN" sz="2800" b="1" dirty="0">
                <a:solidFill>
                  <a:srgbClr val="0C3571"/>
                </a:solidFill>
                <a:latin typeface="Anta"/>
                <a:ea typeface="Anta"/>
                <a:cs typeface="Anta"/>
                <a:sym typeface="Anta"/>
              </a:rPr>
            </a:br>
            <a:br>
              <a:rPr lang="en-IN" sz="2800" b="1" dirty="0">
                <a:solidFill>
                  <a:srgbClr val="0C3571"/>
                </a:solidFill>
                <a:latin typeface="Anta"/>
                <a:ea typeface="Anta"/>
                <a:cs typeface="Anta"/>
                <a:sym typeface="Anta"/>
              </a:rPr>
            </a:br>
            <a:br>
              <a:rPr lang="en-IN" sz="2800" b="1" dirty="0">
                <a:solidFill>
                  <a:srgbClr val="0C3571"/>
                </a:solidFill>
                <a:latin typeface="Anta"/>
                <a:ea typeface="Anta"/>
                <a:cs typeface="Anta"/>
                <a:sym typeface="Anta"/>
              </a:rPr>
            </a:br>
            <a:r>
              <a:rPr lang="en-IN" sz="4400" b="1" dirty="0">
                <a:solidFill>
                  <a:srgbClr val="0C3571"/>
                </a:solidFill>
                <a:latin typeface="Times New Roman"/>
                <a:ea typeface="Times New Roman"/>
                <a:cs typeface="Times New Roman"/>
                <a:sym typeface="Times New Roman"/>
              </a:rPr>
              <a:t>Capstone Project 1 </a:t>
            </a:r>
            <a:br>
              <a:rPr lang="en-IN" sz="4400" b="1" dirty="0">
                <a:solidFill>
                  <a:srgbClr val="0C3571"/>
                </a:solidFill>
                <a:latin typeface="Times New Roman"/>
                <a:ea typeface="Times New Roman"/>
                <a:cs typeface="Times New Roman"/>
                <a:sym typeface="Times New Roman"/>
              </a:rPr>
            </a:br>
            <a:r>
              <a:rPr lang="en-IN" sz="2400" b="1" dirty="0">
                <a:solidFill>
                  <a:srgbClr val="0C3571"/>
                </a:solidFill>
                <a:latin typeface="Times New Roman"/>
                <a:ea typeface="Times New Roman"/>
                <a:cs typeface="Times New Roman"/>
                <a:sym typeface="Times New Roman"/>
              </a:rPr>
              <a:t>MANUFACTURING  EQUIPMENT  OUTPUT PREDICTION  WITH  LINEAR  REGRESSION</a:t>
            </a:r>
            <a:endParaRPr sz="2400" b="1" dirty="0">
              <a:solidFill>
                <a:srgbClr val="0C3571"/>
              </a:solidFill>
              <a:latin typeface="Times New Roman"/>
              <a:ea typeface="Times New Roman"/>
              <a:cs typeface="Times New Roman"/>
              <a:sym typeface="Times New Roman"/>
            </a:endParaRPr>
          </a:p>
          <a:p>
            <a:pPr marL="0" lvl="0" indent="0" algn="ctr" rtl="0">
              <a:lnSpc>
                <a:spcPct val="200000"/>
              </a:lnSpc>
              <a:spcBef>
                <a:spcPts val="0"/>
              </a:spcBef>
              <a:spcAft>
                <a:spcPts val="0"/>
              </a:spcAft>
              <a:buClr>
                <a:srgbClr val="0C3571"/>
              </a:buClr>
              <a:buSzPts val="2800"/>
              <a:buFont typeface="Anta"/>
              <a:buNone/>
            </a:pPr>
            <a:endParaRPr sz="2300" b="1" dirty="0">
              <a:solidFill>
                <a:srgbClr val="0C3571"/>
              </a:solidFill>
              <a:latin typeface="Arial"/>
              <a:ea typeface="Arial"/>
              <a:cs typeface="Arial"/>
              <a:sym typeface="Arial"/>
            </a:endParaRPr>
          </a:p>
          <a:p>
            <a:pPr marL="0" lvl="0" indent="0" algn="ctr" rtl="0">
              <a:lnSpc>
                <a:spcPct val="200000"/>
              </a:lnSpc>
              <a:spcBef>
                <a:spcPts val="0"/>
              </a:spcBef>
              <a:spcAft>
                <a:spcPts val="0"/>
              </a:spcAft>
              <a:buClr>
                <a:srgbClr val="0C3571"/>
              </a:buClr>
              <a:buSzPts val="2800"/>
              <a:buFont typeface="Anta"/>
              <a:buNone/>
            </a:pPr>
            <a:br>
              <a:rPr lang="en-IN" sz="1400" b="1" dirty="0">
                <a:solidFill>
                  <a:srgbClr val="2F5496"/>
                </a:solidFill>
                <a:latin typeface="Times New Roman"/>
                <a:ea typeface="Times New Roman"/>
                <a:cs typeface="Times New Roman"/>
                <a:sym typeface="Times New Roman"/>
              </a:rPr>
            </a:br>
            <a:endParaRPr sz="1400" dirty="0">
              <a:solidFill>
                <a:srgbClr val="2F5496"/>
              </a:solidFill>
              <a:latin typeface="Times New Roman"/>
              <a:ea typeface="Times New Roman"/>
              <a:cs typeface="Times New Roman"/>
              <a:sym typeface="Times New Roman"/>
            </a:endParaRPr>
          </a:p>
        </p:txBody>
      </p:sp>
      <p:sp>
        <p:nvSpPr>
          <p:cNvPr id="85" name="Google Shape;85;p1"/>
          <p:cNvSpPr txBox="1"/>
          <p:nvPr/>
        </p:nvSpPr>
        <p:spPr>
          <a:xfrm>
            <a:off x="8066400" y="4050725"/>
            <a:ext cx="4125600" cy="18466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800" b="0" i="0" u="none" strike="noStrike" cap="none" dirty="0">
                <a:solidFill>
                  <a:srgbClr val="2F5496"/>
                </a:solidFill>
                <a:latin typeface="Times New Roman"/>
                <a:ea typeface="Times New Roman"/>
                <a:cs typeface="Times New Roman"/>
                <a:sym typeface="Times New Roman"/>
              </a:rPr>
              <a:t>Team Members</a:t>
            </a:r>
          </a:p>
          <a:p>
            <a:pPr marL="0" marR="0" lvl="0" indent="0" algn="l" rtl="0">
              <a:spcBef>
                <a:spcPts val="0"/>
              </a:spcBef>
              <a:spcAft>
                <a:spcPts val="0"/>
              </a:spcAft>
              <a:buNone/>
            </a:pPr>
            <a:endParaRPr dirty="0"/>
          </a:p>
          <a:p>
            <a:pPr marL="0" marR="0" lvl="0" indent="0" algn="l" rtl="0">
              <a:spcBef>
                <a:spcPts val="0"/>
              </a:spcBef>
              <a:spcAft>
                <a:spcPts val="0"/>
              </a:spcAft>
              <a:buNone/>
            </a:pPr>
            <a:r>
              <a:rPr lang="en-IN" sz="1800" dirty="0">
                <a:solidFill>
                  <a:srgbClr val="2F5496"/>
                </a:solidFill>
                <a:latin typeface="Times New Roman" panose="02020603050405020304" pitchFamily="18" charset="0"/>
                <a:ea typeface="Times New Roman"/>
                <a:cs typeface="Times New Roman" panose="02020603050405020304" pitchFamily="18" charset="0"/>
                <a:sym typeface="Times New Roman"/>
              </a:rPr>
              <a:t>T120100528 : Vijay M</a:t>
            </a:r>
          </a:p>
          <a:p>
            <a:pPr marL="0" marR="0" lvl="0" indent="0" algn="l" rtl="0">
              <a:spcBef>
                <a:spcPts val="0"/>
              </a:spcBef>
              <a:spcAft>
                <a:spcPts val="0"/>
              </a:spcAft>
              <a:buNone/>
            </a:pPr>
            <a:r>
              <a:rPr lang="en-US" sz="1800" dirty="0">
                <a:solidFill>
                  <a:schemeClr val="accent1">
                    <a:lumMod val="75000"/>
                  </a:schemeClr>
                </a:solidFill>
                <a:latin typeface="Times New Roman" panose="02020603050405020304" pitchFamily="18" charset="0"/>
                <a:cs typeface="Times New Roman" panose="02020603050405020304" pitchFamily="18" charset="0"/>
              </a:rPr>
              <a:t>T120100508 : Venu H V</a:t>
            </a:r>
          </a:p>
          <a:p>
            <a:pPr marL="0" marR="0" lvl="0" indent="0" algn="l" rtl="0">
              <a:spcBef>
                <a:spcPts val="0"/>
              </a:spcBef>
              <a:spcAft>
                <a:spcPts val="0"/>
              </a:spcAft>
              <a:buNone/>
            </a:pPr>
            <a:r>
              <a:rPr lang="en-US" sz="1800" dirty="0">
                <a:solidFill>
                  <a:schemeClr val="accent1">
                    <a:lumMod val="75000"/>
                  </a:schemeClr>
                </a:solidFill>
                <a:latin typeface="Times New Roman" panose="02020603050405020304" pitchFamily="18" charset="0"/>
                <a:cs typeface="Times New Roman" panose="02020603050405020304" pitchFamily="18" charset="0"/>
              </a:rPr>
              <a:t>T120100529 : Munikrishna G M</a:t>
            </a:r>
            <a:endParaRPr sz="1800" dirty="0">
              <a:solidFill>
                <a:schemeClr val="accent1">
                  <a:lumMod val="75000"/>
                </a:schemeClr>
              </a:solidFill>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endParaRPr sz="1800" dirty="0">
              <a:solidFill>
                <a:srgbClr val="2F5496"/>
              </a:solidFill>
              <a:latin typeface="Times New Roman"/>
              <a:ea typeface="Times New Roman"/>
              <a:cs typeface="Times New Roman"/>
              <a:sym typeface="Times New Roman"/>
            </a:endParaRPr>
          </a:p>
        </p:txBody>
      </p:sp>
      <p:pic>
        <p:nvPicPr>
          <p:cNvPr id="86" name="Google Shape;86;p1"/>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87" name="Google Shape;87;p1"/>
          <p:cNvSpPr txBox="1"/>
          <p:nvPr/>
        </p:nvSpPr>
        <p:spPr>
          <a:xfrm>
            <a:off x="0" y="0"/>
            <a:ext cx="30000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800">
              <a:solidFill>
                <a:srgbClr val="2F5496"/>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
          <p:cNvSpPr txBox="1"/>
          <p:nvPr/>
        </p:nvSpPr>
        <p:spPr>
          <a:xfrm>
            <a:off x="925286" y="566057"/>
            <a:ext cx="10417500" cy="572460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4000" dirty="0">
                <a:solidFill>
                  <a:schemeClr val="dk1"/>
                </a:solidFill>
                <a:latin typeface="Times New Roman"/>
                <a:ea typeface="Times New Roman"/>
                <a:cs typeface="Times New Roman"/>
                <a:sym typeface="Times New Roman"/>
              </a:rPr>
              <a:t>Table of Contents</a:t>
            </a:r>
            <a:endParaRPr dirty="0"/>
          </a:p>
          <a:p>
            <a:pPr marL="457200" marR="0" lvl="0" indent="-457200" algn="l" rtl="0">
              <a:spcBef>
                <a:spcPts val="0"/>
              </a:spcBef>
              <a:spcAft>
                <a:spcPts val="0"/>
              </a:spcAft>
              <a:buFont typeface="Arial" panose="020B0604020202020204" pitchFamily="34" charset="0"/>
              <a:buChar char="•"/>
            </a:pPr>
            <a:r>
              <a:rPr lang="en-US" sz="2800" dirty="0">
                <a:solidFill>
                  <a:schemeClr val="accent5">
                    <a:lumMod val="75000"/>
                  </a:schemeClr>
                </a:solidFill>
                <a:latin typeface="Times New Roman"/>
                <a:ea typeface="Times New Roman"/>
                <a:cs typeface="Times New Roman"/>
                <a:sym typeface="Times New Roman"/>
              </a:rPr>
              <a:t>Introduction</a:t>
            </a:r>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Problem Statement</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Overview of the Project</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Data generation &amp; Loading</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Data Exploration &amp; Understanding</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Exploratory Data Analysis</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Data Preprocessing &amp; Feature Engineering</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Model Building &amp; Training</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Model Evaluation &amp; Performance Analysis</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Stream API Deployment (</a:t>
            </a:r>
            <a:r>
              <a:rPr lang="en-IN" sz="2800" dirty="0" err="1">
                <a:solidFill>
                  <a:srgbClr val="2F5496"/>
                </a:solidFill>
                <a:latin typeface="Times New Roman"/>
                <a:ea typeface="Times New Roman"/>
                <a:cs typeface="Times New Roman"/>
                <a:sym typeface="Times New Roman"/>
              </a:rPr>
              <a:t>Streamlit</a:t>
            </a:r>
            <a:r>
              <a:rPr lang="en-IN" sz="2800" dirty="0">
                <a:solidFill>
                  <a:srgbClr val="2F5496"/>
                </a:solidFill>
                <a:latin typeface="Times New Roman"/>
                <a:ea typeface="Times New Roman"/>
                <a:cs typeface="Times New Roman"/>
                <a:sym typeface="Times New Roman"/>
              </a:rPr>
              <a:t>)</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Conclusion</a:t>
            </a:r>
            <a:endParaRPr dirty="0"/>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93" name="Google Shape;93;p2"/>
          <p:cNvPicPr preferRelativeResize="0"/>
          <p:nvPr/>
        </p:nvPicPr>
        <p:blipFill rotWithShape="1">
          <a:blip r:embed="rId3">
            <a:alphaModFix/>
          </a:blip>
          <a:srcRect/>
          <a:stretch/>
        </p:blipFill>
        <p:spPr>
          <a:xfrm>
            <a:off x="10232571" y="304800"/>
            <a:ext cx="1578429" cy="105591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623DE9-B86F-4FA7-29A3-D332554D3DB7}"/>
              </a:ext>
            </a:extLst>
          </p:cNvPr>
          <p:cNvSpPr txBox="1"/>
          <p:nvPr/>
        </p:nvSpPr>
        <p:spPr>
          <a:xfrm>
            <a:off x="4571999" y="348245"/>
            <a:ext cx="4500081" cy="738664"/>
          </a:xfrm>
          <a:prstGeom prst="rect">
            <a:avLst/>
          </a:prstGeom>
          <a:noFill/>
        </p:spPr>
        <p:txBody>
          <a:bodyPr wrap="square" rtlCol="0">
            <a:spAutoFit/>
          </a:bodyPr>
          <a:lstStyle/>
          <a:p>
            <a:r>
              <a:rPr lang="en-US" sz="2800" b="1" dirty="0">
                <a:solidFill>
                  <a:schemeClr val="accent5">
                    <a:lumMod val="75000"/>
                  </a:schemeClr>
                </a:solidFill>
                <a:latin typeface="Times New Roman" panose="02020603050405020304" pitchFamily="18" charset="0"/>
                <a:cs typeface="Times New Roman" panose="02020603050405020304" pitchFamily="18" charset="0"/>
              </a:rPr>
              <a:t>Introduction</a:t>
            </a:r>
          </a:p>
          <a:p>
            <a:endParaRPr lang="en-IN" dirty="0"/>
          </a:p>
        </p:txBody>
      </p:sp>
      <p:sp>
        <p:nvSpPr>
          <p:cNvPr id="3" name="TextBox 2">
            <a:extLst>
              <a:ext uri="{FF2B5EF4-FFF2-40B4-BE49-F238E27FC236}">
                <a16:creationId xmlns:a16="http://schemas.microsoft.com/office/drawing/2014/main" id="{A26BA206-D4A6-B3F8-B700-BF8666A42444}"/>
              </a:ext>
            </a:extLst>
          </p:cNvPr>
          <p:cNvSpPr txBox="1"/>
          <p:nvPr/>
        </p:nvSpPr>
        <p:spPr>
          <a:xfrm>
            <a:off x="760288" y="1489753"/>
            <a:ext cx="10325528" cy="4370427"/>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Manufacturing industries depend on machine performance to maintain productivity and achieve production targets. In injection molding processes, the number of parts produced per hour is influenced by machine parameters such as temperature, pressure, cycle time, cooling time, and material properties. Even small changes in these settings can significantly impact production efficiency and overall output.</a:t>
            </a:r>
          </a:p>
          <a:p>
            <a:pPr algn="just"/>
            <a:r>
              <a:rPr lang="en-US" sz="2400" dirty="0">
                <a:latin typeface="Times New Roman" panose="02020603050405020304" pitchFamily="18" charset="0"/>
                <a:cs typeface="Times New Roman" panose="02020603050405020304" pitchFamily="18" charset="0"/>
              </a:rPr>
              <a:t>This project uses Linear Regression to predict hourly manufacturing output based on historical machine data. The goal is to help production teams optimize machine settings, reduce inefficiencies, and identify underperforming conditions. By using a simple and interpretable model, the system supports data-driven decision-making to improve overall manufacturing performance.</a:t>
            </a:r>
          </a:p>
          <a:p>
            <a:endParaRPr lang="en-IN" dirty="0"/>
          </a:p>
        </p:txBody>
      </p:sp>
      <p:pic>
        <p:nvPicPr>
          <p:cNvPr id="4" name="Google Shape;93;p2">
            <a:extLst>
              <a:ext uri="{FF2B5EF4-FFF2-40B4-BE49-F238E27FC236}">
                <a16:creationId xmlns:a16="http://schemas.microsoft.com/office/drawing/2014/main" id="{36116930-A47E-04FA-E7A2-F20164A32A27}"/>
              </a:ext>
            </a:extLst>
          </p:cNvPr>
          <p:cNvPicPr preferRelativeResize="0"/>
          <p:nvPr/>
        </p:nvPicPr>
        <p:blipFill rotWithShape="1">
          <a:blip r:embed="rId2">
            <a:alphaModFix/>
          </a:blip>
          <a:srcRect/>
          <a:stretch/>
        </p:blipFill>
        <p:spPr>
          <a:xfrm>
            <a:off x="10296601" y="30995"/>
            <a:ext cx="1578429" cy="1055914"/>
          </a:xfrm>
          <a:prstGeom prst="rect">
            <a:avLst/>
          </a:prstGeom>
          <a:noFill/>
          <a:ln>
            <a:noFill/>
          </a:ln>
        </p:spPr>
      </p:pic>
    </p:spTree>
    <p:extLst>
      <p:ext uri="{BB962C8B-B14F-4D97-AF65-F5344CB8AC3E}">
        <p14:creationId xmlns:p14="http://schemas.microsoft.com/office/powerpoint/2010/main" val="3322503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p:nvPr/>
        </p:nvSpPr>
        <p:spPr>
          <a:xfrm>
            <a:off x="925275" y="566021"/>
            <a:ext cx="10417500" cy="42164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800" b="1" dirty="0">
                <a:solidFill>
                  <a:srgbClr val="2F5496"/>
                </a:solidFill>
                <a:latin typeface="Times New Roman"/>
                <a:ea typeface="Times New Roman"/>
                <a:cs typeface="Times New Roman"/>
                <a:sym typeface="Times New Roman"/>
              </a:rPr>
              <a:t>Problem Statement</a:t>
            </a:r>
            <a:endParaRPr sz="2800" b="1" dirty="0">
              <a:solidFill>
                <a:srgbClr val="2F5496"/>
              </a:solidFill>
              <a:latin typeface="Times New Roman"/>
              <a:ea typeface="Times New Roman"/>
              <a:cs typeface="Times New Roman"/>
              <a:sym typeface="Times New Roman"/>
            </a:endParaRPr>
          </a:p>
          <a:p>
            <a:pPr marL="0" marR="0" lvl="0" indent="0" algn="l" rtl="0">
              <a:spcBef>
                <a:spcPts val="0"/>
              </a:spcBef>
              <a:spcAft>
                <a:spcPts val="0"/>
              </a:spcAft>
              <a:buNone/>
            </a:pPr>
            <a:endParaRPr sz="2800" b="1" dirty="0">
              <a:solidFill>
                <a:schemeClr val="tx1"/>
              </a:solidFill>
              <a:latin typeface="Times New Roman"/>
              <a:ea typeface="Times New Roman"/>
              <a:cs typeface="Times New Roman"/>
              <a:sym typeface="Times New Roman"/>
            </a:endParaRPr>
          </a:p>
          <a:p>
            <a:pPr lvl="0" algn="just">
              <a:buClr>
                <a:schemeClr val="dk1"/>
              </a:buClr>
              <a:buSzPts val="1100"/>
            </a:pPr>
            <a:r>
              <a:rPr lang="en-US" sz="2400" dirty="0">
                <a:latin typeface="Times New Roman" panose="02020603050405020304" pitchFamily="18" charset="0"/>
                <a:cs typeface="Times New Roman" panose="02020603050405020304" pitchFamily="18" charset="0"/>
              </a:rPr>
              <a:t>The manufacturing company wants to improve production efficiency in its injection molding process. The number of parts produced per hour depends on machine operating parameters such as temperature, pressure, cycle time, and material properties. Currently, there is no system to accurately predict output based on these settings.</a:t>
            </a:r>
            <a:endParaRPr sz="2400" dirty="0">
              <a:solidFill>
                <a:srgbClr val="2F5496"/>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spcBef>
                <a:spcPts val="1200"/>
              </a:spcBef>
              <a:spcAft>
                <a:spcPts val="0"/>
              </a:spcAft>
              <a:buNone/>
            </a:pPr>
            <a:endParaRPr sz="4000" dirty="0">
              <a:solidFill>
                <a:srgbClr val="2F5496"/>
              </a:solidFill>
              <a:latin typeface="Times New Roman"/>
              <a:ea typeface="Times New Roman"/>
              <a:cs typeface="Times New Roman"/>
              <a:sym typeface="Times New Roman"/>
            </a:endParaRPr>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99" name="Google Shape;99;p3"/>
          <p:cNvPicPr preferRelativeResize="0"/>
          <p:nvPr/>
        </p:nvPicPr>
        <p:blipFill rotWithShape="1">
          <a:blip r:embed="rId3">
            <a:alphaModFix/>
          </a:blip>
          <a:srcRect/>
          <a:stretch/>
        </p:blipFill>
        <p:spPr>
          <a:xfrm>
            <a:off x="10232571" y="304800"/>
            <a:ext cx="1578429" cy="105591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p:nvPr/>
        </p:nvSpPr>
        <p:spPr>
          <a:xfrm>
            <a:off x="249475" y="136050"/>
            <a:ext cx="11255400" cy="455505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800" b="1" dirty="0">
                <a:solidFill>
                  <a:srgbClr val="2F5496"/>
                </a:solidFill>
                <a:latin typeface="Times New Roman"/>
                <a:ea typeface="Times New Roman"/>
                <a:cs typeface="Times New Roman"/>
                <a:sym typeface="Times New Roman"/>
              </a:rPr>
              <a:t>Overview of the Project</a:t>
            </a:r>
            <a:endParaRPr sz="2800" b="1" dirty="0">
              <a:solidFill>
                <a:srgbClr val="2F5496"/>
              </a:solidFill>
              <a:latin typeface="Times New Roman"/>
              <a:ea typeface="Times New Roman"/>
              <a:cs typeface="Times New Roman"/>
              <a:sym typeface="Times New Roman"/>
            </a:endParaRPr>
          </a:p>
          <a:p>
            <a:pPr marL="0" marR="0" lvl="0" indent="0" algn="l" rtl="0">
              <a:spcBef>
                <a:spcPts val="0"/>
              </a:spcBef>
              <a:spcAft>
                <a:spcPts val="0"/>
              </a:spcAft>
              <a:buNone/>
            </a:pPr>
            <a:endParaRPr sz="2800" b="1" dirty="0">
              <a:solidFill>
                <a:srgbClr val="2F5496"/>
              </a:solidFill>
              <a:latin typeface="Times New Roman"/>
              <a:ea typeface="Times New Roman"/>
              <a:cs typeface="Times New Roman"/>
              <a:sym typeface="Times New Roman"/>
            </a:endParaRPr>
          </a:p>
          <a:p>
            <a:r>
              <a:rPr lang="en-US" sz="2400" dirty="0">
                <a:latin typeface="Times New Roman" panose="02020603050405020304" pitchFamily="18" charset="0"/>
                <a:cs typeface="Times New Roman" panose="02020603050405020304" pitchFamily="18" charset="0"/>
              </a:rPr>
              <a:t>This project applies </a:t>
            </a:r>
            <a:r>
              <a:rPr lang="en-US" sz="2400" b="1" dirty="0">
                <a:latin typeface="Times New Roman" panose="02020603050405020304" pitchFamily="18" charset="0"/>
                <a:cs typeface="Times New Roman" panose="02020603050405020304" pitchFamily="18" charset="0"/>
              </a:rPr>
              <a:t>Linear Regression</a:t>
            </a:r>
            <a:r>
              <a:rPr lang="en-US" sz="2400" dirty="0">
                <a:latin typeface="Times New Roman" panose="02020603050405020304" pitchFamily="18" charset="0"/>
                <a:cs typeface="Times New Roman" panose="02020603050405020304" pitchFamily="18" charset="0"/>
              </a:rPr>
              <a:t> to predict manufacturing output based on machine data.</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Main Steps:</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Generate or load manufacturing data</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Analyze relationships between parameters</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Train a regression model</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Evaluate model performance</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Deploy prediction system using </a:t>
            </a:r>
            <a:r>
              <a:rPr lang="en-US" sz="2400" dirty="0" err="1">
                <a:latin typeface="Times New Roman" panose="02020603050405020304" pitchFamily="18" charset="0"/>
                <a:cs typeface="Times New Roman" panose="02020603050405020304" pitchFamily="18" charset="0"/>
              </a:rPr>
              <a:t>Streamlit</a:t>
            </a:r>
            <a:endParaRPr lang="en-US" sz="2400" dirty="0">
              <a:latin typeface="Times New Roman" panose="02020603050405020304" pitchFamily="18" charset="0"/>
              <a:cs typeface="Times New Roman" panose="02020603050405020304" pitchFamily="18" charset="0"/>
            </a:endParaRPr>
          </a:p>
        </p:txBody>
      </p:sp>
      <p:pic>
        <p:nvPicPr>
          <p:cNvPr id="105" name="Google Shape;105;p4"/>
          <p:cNvPicPr preferRelativeResize="0"/>
          <p:nvPr/>
        </p:nvPicPr>
        <p:blipFill rotWithShape="1">
          <a:blip r:embed="rId3">
            <a:alphaModFix/>
          </a:blip>
          <a:srcRect/>
          <a:stretch/>
        </p:blipFill>
        <p:spPr>
          <a:xfrm>
            <a:off x="10232571" y="304800"/>
            <a:ext cx="1578429" cy="105591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5"/>
          <p:cNvSpPr txBox="1"/>
          <p:nvPr/>
        </p:nvSpPr>
        <p:spPr>
          <a:xfrm>
            <a:off x="925275" y="193903"/>
            <a:ext cx="10417500" cy="1262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4000">
                <a:solidFill>
                  <a:srgbClr val="2F5496"/>
                </a:solidFill>
                <a:latin typeface="Times New Roman"/>
                <a:ea typeface="Times New Roman"/>
                <a:cs typeface="Times New Roman"/>
                <a:sym typeface="Times New Roman"/>
              </a:rPr>
              <a:t>Data generation &amp; Loading</a:t>
            </a:r>
            <a:endParaRPr/>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pic>
        <p:nvPicPr>
          <p:cNvPr id="111" name="Google Shape;111;p5"/>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12" name="Google Shape;112;p5"/>
          <p:cNvSpPr txBox="1"/>
          <p:nvPr/>
        </p:nvSpPr>
        <p:spPr>
          <a:xfrm>
            <a:off x="459925" y="1295150"/>
            <a:ext cx="10811700" cy="53346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r>
              <a:rPr lang="en-US" sz="2400" dirty="0">
                <a:latin typeface="Times New Roman" panose="02020603050405020304" pitchFamily="18" charset="0"/>
                <a:cs typeface="Times New Roman" panose="02020603050405020304" pitchFamily="18" charset="0"/>
              </a:rPr>
              <a:t>A synthetic manufacturing dataset was created to simulate real industrial data.</a:t>
            </a:r>
          </a:p>
          <a:p>
            <a:r>
              <a:rPr lang="en-US" sz="2400" b="1" dirty="0">
                <a:latin typeface="Times New Roman" panose="02020603050405020304" pitchFamily="18" charset="0"/>
                <a:cs typeface="Times New Roman" panose="02020603050405020304" pitchFamily="18" charset="0"/>
              </a:rPr>
              <a:t>Dataset Details: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Records: 5000+ samples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Target: </a:t>
            </a:r>
            <a:r>
              <a:rPr lang="en-US" sz="2400" dirty="0" err="1">
                <a:latin typeface="Times New Roman" panose="02020603050405020304" pitchFamily="18" charset="0"/>
                <a:cs typeface="Times New Roman" panose="02020603050405020304" pitchFamily="18" charset="0"/>
              </a:rPr>
              <a:t>Parts_Per_Hour</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Features: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Injection Temperature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Injection Pressure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Cycle Time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Cooling Time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Material Viscosity</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Ambient Temperature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Machine Age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Operator Experience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Maintenance Hours</a:t>
            </a:r>
          </a:p>
          <a:p>
            <a:pPr marL="0" lvl="0" indent="0" algn="l" rtl="0">
              <a:lnSpc>
                <a:spcPct val="100000"/>
              </a:lnSpc>
              <a:spcBef>
                <a:spcPts val="0"/>
              </a:spcBef>
              <a:spcAft>
                <a:spcPts val="0"/>
              </a:spcAft>
              <a:buNone/>
            </a:pPr>
            <a:endParaRPr sz="2400" dirty="0">
              <a:solidFill>
                <a:srgbClr val="0C357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6"/>
          <p:cNvSpPr txBox="1"/>
          <p:nvPr/>
        </p:nvSpPr>
        <p:spPr>
          <a:xfrm>
            <a:off x="1315704" y="0"/>
            <a:ext cx="10417628" cy="12618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4000" dirty="0">
                <a:solidFill>
                  <a:srgbClr val="2F5496"/>
                </a:solidFill>
                <a:latin typeface="Times New Roman"/>
                <a:ea typeface="Times New Roman"/>
                <a:cs typeface="Times New Roman"/>
                <a:sym typeface="Times New Roman"/>
              </a:rPr>
              <a:t>Data Exploration &amp; Understanding</a:t>
            </a:r>
            <a:endParaRPr dirty="0"/>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118" name="Google Shape;118;p6"/>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19" name="Google Shape;119;p6"/>
          <p:cNvSpPr txBox="1"/>
          <p:nvPr/>
        </p:nvSpPr>
        <p:spPr>
          <a:xfrm>
            <a:off x="458668" y="1040850"/>
            <a:ext cx="11005200" cy="537022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IN" sz="2200" b="1" dirty="0">
                <a:solidFill>
                  <a:schemeClr val="dk1"/>
                </a:solidFill>
                <a:latin typeface="Times New Roman"/>
                <a:ea typeface="Times New Roman"/>
                <a:cs typeface="Times New Roman"/>
                <a:sym typeface="Times New Roman"/>
              </a:rPr>
              <a:t>Dataset Source:</a:t>
            </a:r>
            <a:r>
              <a:rPr lang="en-IN" sz="2200" dirty="0">
                <a:solidFill>
                  <a:schemeClr val="dk1"/>
                </a:solidFill>
                <a:latin typeface="Times New Roman"/>
                <a:ea typeface="Times New Roman"/>
                <a:cs typeface="Times New Roman"/>
                <a:sym typeface="Times New Roman"/>
              </a:rPr>
              <a:t> Synthetic Manufacturing Dataset based on real manufacturing principles; alternatives include Industrial IoT datasets from UCI ML Repository or manufacturing datasets from Kaggle.</a:t>
            </a:r>
            <a:br>
              <a:rPr lang="en-IN" sz="2200" dirty="0">
                <a:solidFill>
                  <a:schemeClr val="dk1"/>
                </a:solidFill>
                <a:latin typeface="Times New Roman"/>
                <a:ea typeface="Times New Roman"/>
                <a:cs typeface="Times New Roman"/>
                <a:sym typeface="Times New Roman"/>
              </a:rPr>
            </a:br>
            <a:endParaRPr sz="22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2200" b="1" dirty="0">
                <a:solidFill>
                  <a:schemeClr val="dk1"/>
                </a:solidFill>
                <a:latin typeface="Times New Roman"/>
                <a:ea typeface="Times New Roman"/>
                <a:cs typeface="Times New Roman"/>
                <a:sym typeface="Times New Roman"/>
              </a:rPr>
              <a:t>Dataset Size &amp; Target:</a:t>
            </a:r>
            <a:r>
              <a:rPr lang="en-IN" sz="2200" dirty="0">
                <a:solidFill>
                  <a:schemeClr val="dk1"/>
                </a:solidFill>
                <a:latin typeface="Times New Roman"/>
                <a:ea typeface="Times New Roman"/>
                <a:cs typeface="Times New Roman"/>
                <a:sym typeface="Times New Roman"/>
              </a:rPr>
              <a:t> 5,000+ records of hourly machine performance; target variable is parts produced per hour.</a:t>
            </a:r>
            <a:br>
              <a:rPr lang="en-IN" sz="2200" dirty="0">
                <a:solidFill>
                  <a:schemeClr val="dk1"/>
                </a:solidFill>
                <a:latin typeface="Times New Roman"/>
                <a:ea typeface="Times New Roman"/>
                <a:cs typeface="Times New Roman"/>
                <a:sym typeface="Times New Roman"/>
              </a:rPr>
            </a:br>
            <a:endParaRPr sz="22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2200" b="1" dirty="0">
                <a:solidFill>
                  <a:schemeClr val="dk1"/>
                </a:solidFill>
                <a:latin typeface="Times New Roman"/>
                <a:ea typeface="Times New Roman"/>
                <a:cs typeface="Times New Roman"/>
                <a:sym typeface="Times New Roman"/>
              </a:rPr>
              <a:t>Key Features – Machine Parameters:</a:t>
            </a:r>
            <a:r>
              <a:rPr lang="en-IN" sz="2200" dirty="0">
                <a:solidFill>
                  <a:schemeClr val="dk1"/>
                </a:solidFill>
                <a:latin typeface="Times New Roman"/>
                <a:ea typeface="Times New Roman"/>
                <a:cs typeface="Times New Roman"/>
                <a:sym typeface="Times New Roman"/>
              </a:rPr>
              <a:t> </a:t>
            </a:r>
            <a:r>
              <a:rPr lang="en-IN" sz="2200" dirty="0" err="1">
                <a:solidFill>
                  <a:schemeClr val="dk1"/>
                </a:solidFill>
                <a:latin typeface="Times New Roman"/>
                <a:ea typeface="Times New Roman"/>
                <a:cs typeface="Times New Roman"/>
                <a:sym typeface="Times New Roman"/>
              </a:rPr>
              <a:t>Injection_Temperature</a:t>
            </a:r>
            <a:r>
              <a:rPr lang="en-IN" sz="2200" dirty="0">
                <a:solidFill>
                  <a:schemeClr val="dk1"/>
                </a:solidFill>
                <a:latin typeface="Times New Roman"/>
                <a:ea typeface="Times New Roman"/>
                <a:cs typeface="Times New Roman"/>
                <a:sym typeface="Times New Roman"/>
              </a:rPr>
              <a:t> (180–250°C), </a:t>
            </a:r>
            <a:r>
              <a:rPr lang="en-IN" sz="2200" dirty="0" err="1">
                <a:solidFill>
                  <a:schemeClr val="dk1"/>
                </a:solidFill>
                <a:latin typeface="Times New Roman"/>
                <a:ea typeface="Times New Roman"/>
                <a:cs typeface="Times New Roman"/>
                <a:sym typeface="Times New Roman"/>
              </a:rPr>
              <a:t>Injection_Pressure</a:t>
            </a:r>
            <a:r>
              <a:rPr lang="en-IN" sz="2200" dirty="0">
                <a:solidFill>
                  <a:schemeClr val="dk1"/>
                </a:solidFill>
                <a:latin typeface="Times New Roman"/>
                <a:ea typeface="Times New Roman"/>
                <a:cs typeface="Times New Roman"/>
                <a:sym typeface="Times New Roman"/>
              </a:rPr>
              <a:t> (80–150 bar), </a:t>
            </a:r>
            <a:r>
              <a:rPr lang="en-IN" sz="2200" dirty="0" err="1">
                <a:solidFill>
                  <a:schemeClr val="dk1"/>
                </a:solidFill>
                <a:latin typeface="Times New Roman"/>
                <a:ea typeface="Times New Roman"/>
                <a:cs typeface="Times New Roman"/>
                <a:sym typeface="Times New Roman"/>
              </a:rPr>
              <a:t>Cycle_Time</a:t>
            </a:r>
            <a:r>
              <a:rPr lang="en-IN" sz="2200" dirty="0">
                <a:solidFill>
                  <a:schemeClr val="dk1"/>
                </a:solidFill>
                <a:latin typeface="Times New Roman"/>
                <a:ea typeface="Times New Roman"/>
                <a:cs typeface="Times New Roman"/>
                <a:sym typeface="Times New Roman"/>
              </a:rPr>
              <a:t> (15–45 sec), </a:t>
            </a:r>
            <a:r>
              <a:rPr lang="en-IN" sz="2200" dirty="0" err="1">
                <a:solidFill>
                  <a:schemeClr val="dk1"/>
                </a:solidFill>
                <a:latin typeface="Times New Roman"/>
                <a:ea typeface="Times New Roman"/>
                <a:cs typeface="Times New Roman"/>
                <a:sym typeface="Times New Roman"/>
              </a:rPr>
              <a:t>Cooling_Time</a:t>
            </a:r>
            <a:r>
              <a:rPr lang="en-IN" sz="2200" dirty="0">
                <a:solidFill>
                  <a:schemeClr val="dk1"/>
                </a:solidFill>
                <a:latin typeface="Times New Roman"/>
                <a:ea typeface="Times New Roman"/>
                <a:cs typeface="Times New Roman"/>
                <a:sym typeface="Times New Roman"/>
              </a:rPr>
              <a:t> (8–20 sec).</a:t>
            </a:r>
            <a:br>
              <a:rPr lang="en-IN" sz="2200" dirty="0">
                <a:solidFill>
                  <a:schemeClr val="dk1"/>
                </a:solidFill>
                <a:latin typeface="Times New Roman"/>
                <a:ea typeface="Times New Roman"/>
                <a:cs typeface="Times New Roman"/>
                <a:sym typeface="Times New Roman"/>
              </a:rPr>
            </a:br>
            <a:endParaRPr sz="22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2200" b="1" dirty="0">
                <a:solidFill>
                  <a:schemeClr val="dk1"/>
                </a:solidFill>
                <a:latin typeface="Times New Roman"/>
                <a:ea typeface="Times New Roman"/>
                <a:cs typeface="Times New Roman"/>
                <a:sym typeface="Times New Roman"/>
              </a:rPr>
              <a:t>Material &amp; Environmental Features:</a:t>
            </a:r>
            <a:r>
              <a:rPr lang="en-IN" sz="2200" dirty="0">
                <a:solidFill>
                  <a:schemeClr val="dk1"/>
                </a:solidFill>
                <a:latin typeface="Times New Roman"/>
                <a:ea typeface="Times New Roman"/>
                <a:cs typeface="Times New Roman"/>
                <a:sym typeface="Times New Roman"/>
              </a:rPr>
              <a:t> </a:t>
            </a:r>
            <a:r>
              <a:rPr lang="en-IN" sz="2200" dirty="0" err="1">
                <a:solidFill>
                  <a:schemeClr val="dk1"/>
                </a:solidFill>
                <a:latin typeface="Times New Roman"/>
                <a:ea typeface="Times New Roman"/>
                <a:cs typeface="Times New Roman"/>
                <a:sym typeface="Times New Roman"/>
              </a:rPr>
              <a:t>Material_Viscosity</a:t>
            </a:r>
            <a:r>
              <a:rPr lang="en-IN" sz="2200" dirty="0">
                <a:solidFill>
                  <a:schemeClr val="dk1"/>
                </a:solidFill>
                <a:latin typeface="Times New Roman"/>
                <a:ea typeface="Times New Roman"/>
                <a:cs typeface="Times New Roman"/>
                <a:sym typeface="Times New Roman"/>
              </a:rPr>
              <a:t> (100–400 </a:t>
            </a:r>
            <a:r>
              <a:rPr lang="en-IN" sz="2200" dirty="0" err="1">
                <a:solidFill>
                  <a:schemeClr val="dk1"/>
                </a:solidFill>
                <a:latin typeface="Times New Roman"/>
                <a:ea typeface="Times New Roman"/>
                <a:cs typeface="Times New Roman"/>
                <a:sym typeface="Times New Roman"/>
              </a:rPr>
              <a:t>Pa·s</a:t>
            </a:r>
            <a:r>
              <a:rPr lang="en-IN" sz="2200" dirty="0">
                <a:solidFill>
                  <a:schemeClr val="dk1"/>
                </a:solidFill>
                <a:latin typeface="Times New Roman"/>
                <a:ea typeface="Times New Roman"/>
                <a:cs typeface="Times New Roman"/>
                <a:sym typeface="Times New Roman"/>
              </a:rPr>
              <a:t>), </a:t>
            </a:r>
            <a:r>
              <a:rPr lang="en-IN" sz="2200" dirty="0" err="1">
                <a:solidFill>
                  <a:schemeClr val="dk1"/>
                </a:solidFill>
                <a:latin typeface="Times New Roman"/>
                <a:ea typeface="Times New Roman"/>
                <a:cs typeface="Times New Roman"/>
                <a:sym typeface="Times New Roman"/>
              </a:rPr>
              <a:t>Ambient_Temperature</a:t>
            </a:r>
            <a:r>
              <a:rPr lang="en-IN" sz="2200" dirty="0">
                <a:solidFill>
                  <a:schemeClr val="dk1"/>
                </a:solidFill>
                <a:latin typeface="Times New Roman"/>
                <a:ea typeface="Times New Roman"/>
                <a:cs typeface="Times New Roman"/>
                <a:sym typeface="Times New Roman"/>
              </a:rPr>
              <a:t> (18–28°C).</a:t>
            </a:r>
            <a:br>
              <a:rPr lang="en-IN" sz="2200" dirty="0">
                <a:solidFill>
                  <a:schemeClr val="dk1"/>
                </a:solidFill>
                <a:latin typeface="Times New Roman"/>
                <a:ea typeface="Times New Roman"/>
                <a:cs typeface="Times New Roman"/>
                <a:sym typeface="Times New Roman"/>
              </a:rPr>
            </a:br>
            <a:endParaRPr sz="22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2200" b="1" dirty="0">
                <a:solidFill>
                  <a:schemeClr val="dk1"/>
                </a:solidFill>
                <a:latin typeface="Times New Roman"/>
                <a:ea typeface="Times New Roman"/>
                <a:cs typeface="Times New Roman"/>
                <a:sym typeface="Times New Roman"/>
              </a:rPr>
              <a:t>Equipment &amp; Operator Features:</a:t>
            </a:r>
            <a:r>
              <a:rPr lang="en-IN" sz="2200" dirty="0">
                <a:solidFill>
                  <a:schemeClr val="dk1"/>
                </a:solidFill>
                <a:latin typeface="Times New Roman"/>
                <a:ea typeface="Times New Roman"/>
                <a:cs typeface="Times New Roman"/>
                <a:sym typeface="Times New Roman"/>
              </a:rPr>
              <a:t> </a:t>
            </a:r>
            <a:r>
              <a:rPr lang="en-IN" sz="2200" dirty="0" err="1">
                <a:solidFill>
                  <a:schemeClr val="dk1"/>
                </a:solidFill>
                <a:latin typeface="Times New Roman"/>
                <a:ea typeface="Times New Roman"/>
                <a:cs typeface="Times New Roman"/>
                <a:sym typeface="Times New Roman"/>
              </a:rPr>
              <a:t>Machine_Age</a:t>
            </a:r>
            <a:r>
              <a:rPr lang="en-IN" sz="2200" dirty="0">
                <a:solidFill>
                  <a:schemeClr val="dk1"/>
                </a:solidFill>
                <a:latin typeface="Times New Roman"/>
                <a:ea typeface="Times New Roman"/>
                <a:cs typeface="Times New Roman"/>
                <a:sym typeface="Times New Roman"/>
              </a:rPr>
              <a:t> (1–15 years), </a:t>
            </a:r>
            <a:r>
              <a:rPr lang="en-IN" sz="2200" dirty="0" err="1">
                <a:solidFill>
                  <a:schemeClr val="dk1"/>
                </a:solidFill>
                <a:latin typeface="Times New Roman"/>
                <a:ea typeface="Times New Roman"/>
                <a:cs typeface="Times New Roman"/>
                <a:sym typeface="Times New Roman"/>
              </a:rPr>
              <a:t>Operator_Experience</a:t>
            </a:r>
            <a:r>
              <a:rPr lang="en-IN" sz="2200" dirty="0">
                <a:solidFill>
                  <a:schemeClr val="dk1"/>
                </a:solidFill>
                <a:latin typeface="Times New Roman"/>
                <a:ea typeface="Times New Roman"/>
                <a:cs typeface="Times New Roman"/>
                <a:sym typeface="Times New Roman"/>
              </a:rPr>
              <a:t> (1–120 months), </a:t>
            </a:r>
            <a:r>
              <a:rPr lang="en-IN" sz="2200" dirty="0" err="1">
                <a:solidFill>
                  <a:schemeClr val="dk1"/>
                </a:solidFill>
                <a:latin typeface="Times New Roman"/>
                <a:ea typeface="Times New Roman"/>
                <a:cs typeface="Times New Roman"/>
                <a:sym typeface="Times New Roman"/>
              </a:rPr>
              <a:t>Maintenance_Hours</a:t>
            </a:r>
            <a:r>
              <a:rPr lang="en-IN" sz="2200" dirty="0">
                <a:solidFill>
                  <a:schemeClr val="dk1"/>
                </a:solidFill>
                <a:latin typeface="Times New Roman"/>
                <a:ea typeface="Times New Roman"/>
                <a:cs typeface="Times New Roman"/>
                <a:sym typeface="Times New Roman"/>
              </a:rPr>
              <a:t> (0–200 hours).</a:t>
            </a:r>
            <a:endParaRPr sz="2200" dirty="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2200" dirty="0">
              <a:solidFill>
                <a:srgbClr val="0C357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7"/>
          <p:cNvSpPr txBox="1"/>
          <p:nvPr/>
        </p:nvSpPr>
        <p:spPr>
          <a:xfrm>
            <a:off x="533825" y="155513"/>
            <a:ext cx="10417500" cy="1416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1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4700" dirty="0">
                <a:solidFill>
                  <a:srgbClr val="2F5496"/>
                </a:solidFill>
                <a:latin typeface="Times New Roman"/>
                <a:ea typeface="Times New Roman"/>
                <a:cs typeface="Times New Roman"/>
                <a:sym typeface="Times New Roman"/>
              </a:rPr>
              <a:t>Exploratory Data Analysis</a:t>
            </a:r>
            <a:endParaRPr sz="2100" dirty="0"/>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125" name="Google Shape;125;p7"/>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26" name="Google Shape;126;p7"/>
          <p:cNvSpPr txBox="1"/>
          <p:nvPr/>
        </p:nvSpPr>
        <p:spPr>
          <a:xfrm>
            <a:off x="394500" y="1540925"/>
            <a:ext cx="11416500" cy="4697700"/>
          </a:xfrm>
          <a:prstGeom prst="rect">
            <a:avLst/>
          </a:prstGeom>
          <a:noFill/>
          <a:ln>
            <a:noFill/>
          </a:ln>
        </p:spPr>
        <p:txBody>
          <a:bodyPr spcFirstLastPara="1" wrap="square" lIns="91425" tIns="91425" rIns="91425" bIns="91425" anchor="t" anchorCtr="0">
            <a:noAutofit/>
          </a:bodyPr>
          <a:lstStyle/>
          <a:p>
            <a:r>
              <a:rPr lang="en-IN" sz="2400" dirty="0">
                <a:latin typeface="Times New Roman" panose="02020603050405020304" pitchFamily="18" charset="0"/>
                <a:cs typeface="Times New Roman" panose="02020603050405020304" pitchFamily="18" charset="0"/>
              </a:rPr>
              <a:t>EDA helps understand patterns and relationships.</a:t>
            </a:r>
          </a:p>
          <a:p>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Visualizations Used:</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Histograms (distribution check)</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Correlation heatmap</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Scatter plots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Feature vs Output analysis</a:t>
            </a:r>
          </a:p>
          <a:p>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Insights: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Cycle Time → Strong negative correlation</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Operator Experience → Positive impact</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Machine Age → Negative impact</a:t>
            </a:r>
          </a:p>
          <a:p>
            <a:pPr marL="0" lvl="0" indent="0" algn="l" rtl="0">
              <a:lnSpc>
                <a:spcPct val="100000"/>
              </a:lnSpc>
              <a:spcBef>
                <a:spcPts val="0"/>
              </a:spcBef>
              <a:spcAft>
                <a:spcPts val="0"/>
              </a:spcAft>
              <a:buNone/>
            </a:pPr>
            <a:endParaRPr sz="2400" b="1" dirty="0">
              <a:solidFill>
                <a:srgbClr val="0C357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8"/>
          <p:cNvSpPr txBox="1"/>
          <p:nvPr/>
        </p:nvSpPr>
        <p:spPr>
          <a:xfrm>
            <a:off x="519300" y="304800"/>
            <a:ext cx="10417500" cy="130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4300">
                <a:solidFill>
                  <a:srgbClr val="2F5496"/>
                </a:solidFill>
                <a:latin typeface="Times New Roman"/>
                <a:ea typeface="Times New Roman"/>
                <a:cs typeface="Times New Roman"/>
                <a:sym typeface="Times New Roman"/>
              </a:rPr>
              <a:t>Data Preprocessing &amp; Feature Engineering</a:t>
            </a:r>
            <a:endParaRPr sz="1700"/>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pic>
        <p:nvPicPr>
          <p:cNvPr id="132" name="Google Shape;132;p8"/>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33" name="Google Shape;133;p8"/>
          <p:cNvSpPr txBox="1"/>
          <p:nvPr/>
        </p:nvSpPr>
        <p:spPr>
          <a:xfrm>
            <a:off x="463200" y="1360714"/>
            <a:ext cx="11265600" cy="5161500"/>
          </a:xfrm>
          <a:prstGeom prst="rect">
            <a:avLst/>
          </a:prstGeom>
          <a:noFill/>
          <a:ln>
            <a:noFill/>
          </a:ln>
        </p:spPr>
        <p:txBody>
          <a:bodyPr spcFirstLastPara="1" wrap="square" lIns="91425" tIns="91425" rIns="91425" bIns="91425" anchor="t" anchorCtr="0">
            <a:noAutofit/>
          </a:bodyPr>
          <a:lstStyle/>
          <a:p>
            <a:r>
              <a:rPr lang="en-IN" sz="2400" dirty="0">
                <a:latin typeface="Times New Roman" panose="02020603050405020304" pitchFamily="18" charset="0"/>
                <a:cs typeface="Times New Roman" panose="02020603050405020304" pitchFamily="18" charset="0"/>
              </a:rPr>
              <a:t>Steps performed:</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Removed non-numeric columns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Handled missing values (mean imputation)</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Removed outliers (IQR method)</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Scaled features using </a:t>
            </a:r>
            <a:r>
              <a:rPr lang="en-IN" sz="2400" dirty="0" err="1">
                <a:latin typeface="Times New Roman" panose="02020603050405020304" pitchFamily="18" charset="0"/>
                <a:cs typeface="Times New Roman" panose="02020603050405020304" pitchFamily="18" charset="0"/>
              </a:rPr>
              <a:t>StandardScaler</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Split data into Train (80%) &amp; Test (20%)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9"/>
          <p:cNvSpPr txBox="1"/>
          <p:nvPr/>
        </p:nvSpPr>
        <p:spPr>
          <a:xfrm>
            <a:off x="2029279" y="98614"/>
            <a:ext cx="10417500" cy="1262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4000" dirty="0">
                <a:solidFill>
                  <a:srgbClr val="2F5496"/>
                </a:solidFill>
                <a:latin typeface="Times New Roman"/>
                <a:ea typeface="Times New Roman"/>
                <a:cs typeface="Times New Roman"/>
                <a:sym typeface="Times New Roman"/>
              </a:rPr>
              <a:t>Model Building &amp; Training</a:t>
            </a:r>
            <a:endParaRPr dirty="0"/>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139" name="Google Shape;139;p9"/>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40" name="Google Shape;140;p9"/>
          <p:cNvSpPr txBox="1"/>
          <p:nvPr/>
        </p:nvSpPr>
        <p:spPr>
          <a:xfrm>
            <a:off x="381000" y="1034772"/>
            <a:ext cx="11576100" cy="5724614"/>
          </a:xfrm>
          <a:prstGeom prst="rect">
            <a:avLst/>
          </a:prstGeom>
          <a:noFill/>
          <a:ln>
            <a:noFill/>
          </a:ln>
        </p:spPr>
        <p:txBody>
          <a:bodyPr spcFirstLastPara="1" wrap="square" lIns="91425" tIns="91425" rIns="91425" bIns="91425" anchor="t" anchorCtr="0">
            <a:spAutoFit/>
          </a:bodyPr>
          <a:lstStyle/>
          <a:p>
            <a:pPr marL="457200" lvl="0" indent="-381000" algn="just" rtl="0">
              <a:lnSpc>
                <a:spcPct val="100000"/>
              </a:lnSpc>
              <a:spcBef>
                <a:spcPts val="0"/>
              </a:spcBef>
              <a:spcAft>
                <a:spcPts val="0"/>
              </a:spcAft>
              <a:buClr>
                <a:srgbClr val="2F5496"/>
              </a:buClr>
              <a:buSzPts val="2400"/>
              <a:buFont typeface="Times New Roman"/>
              <a:buChar char="●"/>
            </a:pPr>
            <a:r>
              <a:rPr lang="en-IN" sz="2400" dirty="0">
                <a:solidFill>
                  <a:schemeClr val="tx1"/>
                </a:solidFill>
                <a:latin typeface="Times New Roman"/>
                <a:ea typeface="Times New Roman"/>
                <a:cs typeface="Times New Roman"/>
                <a:sym typeface="Times New Roman"/>
              </a:rPr>
              <a:t>1.Linear Regression Model:</a:t>
            </a:r>
            <a:endParaRPr sz="2400" dirty="0">
              <a:solidFill>
                <a:schemeClr val="tx1"/>
              </a:solidFill>
              <a:latin typeface="Times New Roman"/>
              <a:ea typeface="Times New Roman"/>
              <a:cs typeface="Times New Roman"/>
              <a:sym typeface="Times New Roman"/>
            </a:endParaRPr>
          </a:p>
          <a:p>
            <a:pPr marL="457200" lvl="0" indent="0" algn="just" rtl="0">
              <a:lnSpc>
                <a:spcPct val="100000"/>
              </a:lnSpc>
              <a:spcBef>
                <a:spcPts val="0"/>
              </a:spcBef>
              <a:spcAft>
                <a:spcPts val="0"/>
              </a:spcAft>
              <a:buNone/>
            </a:pPr>
            <a:r>
              <a:rPr lang="en-IN" sz="2400" dirty="0">
                <a:solidFill>
                  <a:schemeClr val="tx1"/>
                </a:solidFill>
                <a:latin typeface="Times New Roman"/>
                <a:ea typeface="Times New Roman"/>
                <a:cs typeface="Times New Roman"/>
                <a:sym typeface="Times New Roman"/>
              </a:rPr>
              <a:t>⚬A simple model that tries to fit a straight line through the data.</a:t>
            </a:r>
            <a:endParaRPr sz="2400" dirty="0">
              <a:solidFill>
                <a:schemeClr val="tx1"/>
              </a:solidFill>
              <a:latin typeface="Times New Roman"/>
              <a:ea typeface="Times New Roman"/>
              <a:cs typeface="Times New Roman"/>
              <a:sym typeface="Times New Roman"/>
            </a:endParaRPr>
          </a:p>
          <a:p>
            <a:pPr marL="457200" lvl="0" indent="0" algn="just" rtl="0">
              <a:lnSpc>
                <a:spcPct val="100000"/>
              </a:lnSpc>
              <a:spcBef>
                <a:spcPts val="0"/>
              </a:spcBef>
              <a:spcAft>
                <a:spcPts val="0"/>
              </a:spcAft>
              <a:buNone/>
            </a:pPr>
            <a:r>
              <a:rPr lang="en-IN" sz="2400" dirty="0">
                <a:solidFill>
                  <a:schemeClr val="tx1"/>
                </a:solidFill>
                <a:latin typeface="Times New Roman"/>
                <a:ea typeface="Times New Roman"/>
                <a:cs typeface="Times New Roman"/>
                <a:sym typeface="Times New Roman"/>
              </a:rPr>
              <a:t>⚬It predicts </a:t>
            </a:r>
            <a:r>
              <a:rPr lang="en-IN" sz="2400" dirty="0" err="1">
                <a:solidFill>
                  <a:schemeClr val="tx1"/>
                </a:solidFill>
                <a:latin typeface="Times New Roman"/>
                <a:ea typeface="Times New Roman"/>
                <a:cs typeface="Times New Roman"/>
                <a:sym typeface="Times New Roman"/>
              </a:rPr>
              <a:t>Parts_Per_Hour</a:t>
            </a:r>
            <a:r>
              <a:rPr lang="en-IN" sz="2400" dirty="0">
                <a:solidFill>
                  <a:schemeClr val="tx1"/>
                </a:solidFill>
                <a:latin typeface="Times New Roman"/>
                <a:ea typeface="Times New Roman"/>
                <a:cs typeface="Times New Roman"/>
                <a:sym typeface="Times New Roman"/>
              </a:rPr>
              <a:t> based on machine settings.</a:t>
            </a:r>
          </a:p>
          <a:p>
            <a:pPr marL="457200" lvl="0" indent="0" algn="just" rtl="0">
              <a:lnSpc>
                <a:spcPct val="100000"/>
              </a:lnSpc>
              <a:spcBef>
                <a:spcPts val="0"/>
              </a:spcBef>
              <a:spcAft>
                <a:spcPts val="0"/>
              </a:spcAft>
              <a:buNone/>
            </a:pPr>
            <a:endParaRPr sz="2400" dirty="0">
              <a:solidFill>
                <a:schemeClr val="tx1"/>
              </a:solidFill>
              <a:latin typeface="Times New Roman"/>
              <a:ea typeface="Times New Roman"/>
              <a:cs typeface="Times New Roman"/>
              <a:sym typeface="Times New Roman"/>
            </a:endParaRPr>
          </a:p>
          <a:p>
            <a:pPr marL="457200" lvl="0" indent="-381000" algn="just" rtl="0">
              <a:lnSpc>
                <a:spcPct val="100000"/>
              </a:lnSpc>
              <a:spcBef>
                <a:spcPts val="0"/>
              </a:spcBef>
              <a:spcAft>
                <a:spcPts val="0"/>
              </a:spcAft>
              <a:buClr>
                <a:srgbClr val="2F5496"/>
              </a:buClr>
              <a:buSzPts val="2400"/>
              <a:buFont typeface="Times New Roman"/>
              <a:buChar char="●"/>
            </a:pPr>
            <a:r>
              <a:rPr lang="en-IN" sz="2400" dirty="0">
                <a:solidFill>
                  <a:schemeClr val="tx1"/>
                </a:solidFill>
                <a:latin typeface="Times New Roman"/>
                <a:ea typeface="Times New Roman"/>
                <a:cs typeface="Times New Roman"/>
                <a:sym typeface="Times New Roman"/>
              </a:rPr>
              <a:t>2.Regularized Models (Ridge &amp; Lasso):</a:t>
            </a:r>
            <a:endParaRPr sz="2400" dirty="0">
              <a:solidFill>
                <a:schemeClr val="tx1"/>
              </a:solidFill>
              <a:latin typeface="Times New Roman"/>
              <a:ea typeface="Times New Roman"/>
              <a:cs typeface="Times New Roman"/>
              <a:sym typeface="Times New Roman"/>
            </a:endParaRPr>
          </a:p>
          <a:p>
            <a:pPr marL="457200" lvl="0" indent="0" algn="just" rtl="0">
              <a:lnSpc>
                <a:spcPct val="100000"/>
              </a:lnSpc>
              <a:spcBef>
                <a:spcPts val="0"/>
              </a:spcBef>
              <a:spcAft>
                <a:spcPts val="0"/>
              </a:spcAft>
              <a:buNone/>
            </a:pPr>
            <a:r>
              <a:rPr lang="en-IN" sz="2400" dirty="0">
                <a:solidFill>
                  <a:schemeClr val="tx1"/>
                </a:solidFill>
                <a:latin typeface="Times New Roman"/>
                <a:ea typeface="Times New Roman"/>
                <a:cs typeface="Times New Roman"/>
                <a:sym typeface="Times New Roman"/>
              </a:rPr>
              <a:t>⚬Ridge → makes sure no single feature has too much influence.</a:t>
            </a:r>
            <a:endParaRPr sz="2400" dirty="0">
              <a:solidFill>
                <a:schemeClr val="tx1"/>
              </a:solidFill>
              <a:latin typeface="Times New Roman"/>
              <a:ea typeface="Times New Roman"/>
              <a:cs typeface="Times New Roman"/>
              <a:sym typeface="Times New Roman"/>
            </a:endParaRPr>
          </a:p>
          <a:p>
            <a:pPr marL="457200" lvl="0" indent="0" algn="just" rtl="0">
              <a:lnSpc>
                <a:spcPct val="100000"/>
              </a:lnSpc>
              <a:spcBef>
                <a:spcPts val="0"/>
              </a:spcBef>
              <a:spcAft>
                <a:spcPts val="0"/>
              </a:spcAft>
              <a:buNone/>
            </a:pPr>
            <a:r>
              <a:rPr lang="en-IN" sz="2400" dirty="0">
                <a:solidFill>
                  <a:schemeClr val="tx1"/>
                </a:solidFill>
                <a:latin typeface="Times New Roman"/>
                <a:ea typeface="Times New Roman"/>
                <a:cs typeface="Times New Roman"/>
                <a:sym typeface="Times New Roman"/>
              </a:rPr>
              <a:t>⚬Lasso → can remove unimportant features completely.</a:t>
            </a:r>
          </a:p>
          <a:p>
            <a:pPr marL="457200" lvl="0" indent="0" algn="just" rtl="0">
              <a:lnSpc>
                <a:spcPct val="100000"/>
              </a:lnSpc>
              <a:spcBef>
                <a:spcPts val="0"/>
              </a:spcBef>
              <a:spcAft>
                <a:spcPts val="0"/>
              </a:spcAft>
              <a:buNone/>
            </a:pPr>
            <a:endParaRPr sz="2400" dirty="0">
              <a:solidFill>
                <a:schemeClr val="tx1"/>
              </a:solidFill>
              <a:latin typeface="Times New Roman"/>
              <a:ea typeface="Times New Roman"/>
              <a:cs typeface="Times New Roman"/>
              <a:sym typeface="Times New Roman"/>
            </a:endParaRPr>
          </a:p>
          <a:p>
            <a:pPr marL="457200" lvl="0" indent="-381000" algn="just" rtl="0">
              <a:lnSpc>
                <a:spcPct val="100000"/>
              </a:lnSpc>
              <a:spcBef>
                <a:spcPts val="0"/>
              </a:spcBef>
              <a:spcAft>
                <a:spcPts val="0"/>
              </a:spcAft>
              <a:buClr>
                <a:srgbClr val="2F5496"/>
              </a:buClr>
              <a:buSzPts val="2400"/>
              <a:buFont typeface="Times New Roman"/>
              <a:buChar char="●"/>
            </a:pPr>
            <a:r>
              <a:rPr lang="en-IN" sz="2400" dirty="0">
                <a:solidFill>
                  <a:schemeClr val="tx1"/>
                </a:solidFill>
                <a:latin typeface="Times New Roman"/>
                <a:ea typeface="Times New Roman"/>
                <a:cs typeface="Times New Roman"/>
                <a:sym typeface="Times New Roman"/>
              </a:rPr>
              <a:t>3.Training the Model:</a:t>
            </a:r>
            <a:endParaRPr sz="2400" dirty="0">
              <a:solidFill>
                <a:schemeClr val="tx1"/>
              </a:solidFill>
              <a:latin typeface="Times New Roman"/>
              <a:ea typeface="Times New Roman"/>
              <a:cs typeface="Times New Roman"/>
              <a:sym typeface="Times New Roman"/>
            </a:endParaRPr>
          </a:p>
          <a:p>
            <a:pPr marL="457200" lvl="0" indent="0" algn="just" rtl="0">
              <a:lnSpc>
                <a:spcPct val="100000"/>
              </a:lnSpc>
              <a:spcBef>
                <a:spcPts val="0"/>
              </a:spcBef>
              <a:spcAft>
                <a:spcPts val="0"/>
              </a:spcAft>
              <a:buNone/>
            </a:pPr>
            <a:r>
              <a:rPr lang="en-IN" sz="2400" dirty="0">
                <a:solidFill>
                  <a:schemeClr val="tx1"/>
                </a:solidFill>
                <a:latin typeface="Times New Roman"/>
                <a:ea typeface="Times New Roman"/>
                <a:cs typeface="Times New Roman"/>
                <a:sym typeface="Times New Roman"/>
              </a:rPr>
              <a:t>⚬We give the training data to the model.</a:t>
            </a:r>
            <a:endParaRPr sz="2400" dirty="0">
              <a:solidFill>
                <a:schemeClr val="tx1"/>
              </a:solidFill>
              <a:latin typeface="Times New Roman"/>
              <a:ea typeface="Times New Roman"/>
              <a:cs typeface="Times New Roman"/>
              <a:sym typeface="Times New Roman"/>
            </a:endParaRPr>
          </a:p>
          <a:p>
            <a:pPr marL="457200" lvl="0" indent="0" algn="just" rtl="0">
              <a:lnSpc>
                <a:spcPct val="100000"/>
              </a:lnSpc>
              <a:spcBef>
                <a:spcPts val="0"/>
              </a:spcBef>
              <a:spcAft>
                <a:spcPts val="0"/>
              </a:spcAft>
              <a:buNone/>
            </a:pPr>
            <a:r>
              <a:rPr lang="en-IN" sz="2400" dirty="0">
                <a:solidFill>
                  <a:schemeClr val="tx1"/>
                </a:solidFill>
                <a:latin typeface="Times New Roman"/>
                <a:ea typeface="Times New Roman"/>
                <a:cs typeface="Times New Roman"/>
                <a:sym typeface="Times New Roman"/>
              </a:rPr>
              <a:t>⚬The model “learns” the patterns.</a:t>
            </a:r>
            <a:endParaRPr sz="2400" dirty="0">
              <a:solidFill>
                <a:schemeClr val="tx1"/>
              </a:solidFill>
              <a:latin typeface="Times New Roman"/>
              <a:ea typeface="Times New Roman"/>
              <a:cs typeface="Times New Roman"/>
              <a:sym typeface="Times New Roman"/>
            </a:endParaRPr>
          </a:p>
          <a:p>
            <a:pPr marL="457200" lvl="0" indent="0" algn="just" rtl="0">
              <a:lnSpc>
                <a:spcPct val="100000"/>
              </a:lnSpc>
              <a:spcBef>
                <a:spcPts val="0"/>
              </a:spcBef>
              <a:spcAft>
                <a:spcPts val="0"/>
              </a:spcAft>
              <a:buNone/>
            </a:pPr>
            <a:r>
              <a:rPr lang="en-IN" sz="2400" dirty="0">
                <a:solidFill>
                  <a:schemeClr val="tx1"/>
                </a:solidFill>
                <a:latin typeface="Times New Roman"/>
                <a:ea typeface="Times New Roman"/>
                <a:cs typeface="Times New Roman"/>
                <a:sym typeface="Times New Roman"/>
              </a:rPr>
              <a:t>⚬Then we test it on new (test) data.</a:t>
            </a:r>
          </a:p>
          <a:p>
            <a:pPr marL="457200" lvl="0" indent="0" algn="just" rtl="0">
              <a:lnSpc>
                <a:spcPct val="100000"/>
              </a:lnSpc>
              <a:spcBef>
                <a:spcPts val="0"/>
              </a:spcBef>
              <a:spcAft>
                <a:spcPts val="0"/>
              </a:spcAft>
              <a:buNone/>
            </a:pPr>
            <a:endParaRPr sz="2400" dirty="0">
              <a:solidFill>
                <a:schemeClr val="tx1"/>
              </a:solidFill>
              <a:latin typeface="Times New Roman"/>
              <a:ea typeface="Times New Roman"/>
              <a:cs typeface="Times New Roman"/>
              <a:sym typeface="Times New Roman"/>
            </a:endParaRPr>
          </a:p>
          <a:p>
            <a:pPr marL="457200" lvl="0" indent="-381000" algn="just" rtl="0">
              <a:lnSpc>
                <a:spcPct val="100000"/>
              </a:lnSpc>
              <a:spcBef>
                <a:spcPts val="0"/>
              </a:spcBef>
              <a:spcAft>
                <a:spcPts val="0"/>
              </a:spcAft>
              <a:buClr>
                <a:srgbClr val="2F5496"/>
              </a:buClr>
              <a:buSzPts val="2400"/>
              <a:buFont typeface="Times New Roman"/>
              <a:buChar char="●"/>
            </a:pPr>
            <a:r>
              <a:rPr lang="en-IN" sz="2400" dirty="0">
                <a:solidFill>
                  <a:schemeClr val="tx1"/>
                </a:solidFill>
                <a:latin typeface="Times New Roman"/>
                <a:ea typeface="Times New Roman"/>
                <a:cs typeface="Times New Roman"/>
                <a:sym typeface="Times New Roman"/>
              </a:rPr>
              <a:t>4.Reproducibility:</a:t>
            </a:r>
            <a:endParaRPr sz="2400" dirty="0">
              <a:solidFill>
                <a:schemeClr val="tx1"/>
              </a:solidFill>
              <a:latin typeface="Times New Roman"/>
              <a:ea typeface="Times New Roman"/>
              <a:cs typeface="Times New Roman"/>
              <a:sym typeface="Times New Roman"/>
            </a:endParaRPr>
          </a:p>
          <a:p>
            <a:pPr marL="457200" lvl="0" indent="0" algn="just" rtl="0">
              <a:lnSpc>
                <a:spcPct val="100000"/>
              </a:lnSpc>
              <a:spcBef>
                <a:spcPts val="0"/>
              </a:spcBef>
              <a:spcAft>
                <a:spcPts val="0"/>
              </a:spcAft>
              <a:buNone/>
            </a:pPr>
            <a:r>
              <a:rPr lang="en-IN" sz="2400" dirty="0">
                <a:solidFill>
                  <a:schemeClr val="tx1"/>
                </a:solidFill>
                <a:latin typeface="Times New Roman"/>
                <a:ea typeface="Times New Roman"/>
                <a:cs typeface="Times New Roman"/>
                <a:sym typeface="Times New Roman"/>
              </a:rPr>
              <a:t>⚬Use the same random seed so we can repeat results.</a:t>
            </a:r>
            <a:endParaRPr sz="2400" b="1" dirty="0">
              <a:solidFill>
                <a:schemeClr val="tx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g38cdb4fd196_2_27"/>
          <p:cNvSpPr txBox="1"/>
          <p:nvPr/>
        </p:nvSpPr>
        <p:spPr>
          <a:xfrm>
            <a:off x="887261" y="201719"/>
            <a:ext cx="10417500" cy="1262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4000">
                <a:solidFill>
                  <a:srgbClr val="2F5496"/>
                </a:solidFill>
                <a:latin typeface="Times New Roman"/>
                <a:ea typeface="Times New Roman"/>
                <a:cs typeface="Times New Roman"/>
                <a:sym typeface="Times New Roman"/>
              </a:rPr>
              <a:t>Model Evaluation &amp; Performance Analysis</a:t>
            </a:r>
            <a:endParaRPr/>
          </a:p>
          <a:p>
            <a:pPr marL="0" marR="0" lvl="0" indent="0" algn="l" rtl="0">
              <a:spcBef>
                <a:spcPts val="0"/>
              </a:spcBef>
              <a:spcAft>
                <a:spcPts val="0"/>
              </a:spcAft>
              <a:buNone/>
            </a:pPr>
            <a:r>
              <a:rPr lang="en-IN"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p:txBody>
      </p:sp>
      <p:pic>
        <p:nvPicPr>
          <p:cNvPr id="146" name="Google Shape;146;g38cdb4fd196_2_27"/>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47" name="Google Shape;147;g38cdb4fd196_2_27"/>
          <p:cNvSpPr txBox="1"/>
          <p:nvPr/>
        </p:nvSpPr>
        <p:spPr>
          <a:xfrm>
            <a:off x="275725" y="1027700"/>
            <a:ext cx="11187600" cy="55860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IN" sz="2200" dirty="0">
                <a:solidFill>
                  <a:schemeClr val="tx1"/>
                </a:solidFill>
                <a:latin typeface="Times New Roman"/>
                <a:ea typeface="Times New Roman"/>
                <a:cs typeface="Times New Roman"/>
                <a:sym typeface="Times New Roman"/>
              </a:rPr>
              <a:t>1.</a:t>
            </a:r>
            <a:r>
              <a:rPr lang="en-IN" sz="2200" b="1" dirty="0">
                <a:solidFill>
                  <a:schemeClr val="tx1"/>
                </a:solidFill>
                <a:latin typeface="Times New Roman"/>
                <a:ea typeface="Times New Roman"/>
                <a:cs typeface="Times New Roman"/>
                <a:sym typeface="Times New Roman"/>
              </a:rPr>
              <a:t>Metrics to Check:</a:t>
            </a:r>
            <a:endParaRPr sz="2200" b="1" dirty="0">
              <a:solidFill>
                <a:schemeClr val="tx1"/>
              </a:solidFill>
              <a:latin typeface="Times New Roman"/>
              <a:ea typeface="Times New Roman"/>
              <a:cs typeface="Times New Roman"/>
              <a:sym typeface="Times New Roman"/>
            </a:endParaRPr>
          </a:p>
          <a:p>
            <a:pPr marL="12700" lvl="0" indent="0" algn="just" rtl="0">
              <a:lnSpc>
                <a:spcPct val="115000"/>
              </a:lnSpc>
              <a:spcBef>
                <a:spcPts val="0"/>
              </a:spcBef>
              <a:spcAft>
                <a:spcPts val="0"/>
              </a:spcAft>
              <a:buNone/>
            </a:pPr>
            <a:r>
              <a:rPr lang="en-IN" sz="2200" dirty="0">
                <a:solidFill>
                  <a:schemeClr val="tx1"/>
                </a:solidFill>
                <a:latin typeface="Times New Roman"/>
                <a:ea typeface="Times New Roman"/>
                <a:cs typeface="Times New Roman"/>
                <a:sym typeface="Times New Roman"/>
              </a:rPr>
              <a:t>•R² (R-squared): How much of the output can be explained by the model (closer to 1 is better).</a:t>
            </a:r>
            <a:endParaRPr sz="2200" dirty="0">
              <a:solidFill>
                <a:schemeClr val="tx1"/>
              </a:solidFill>
              <a:latin typeface="Times New Roman"/>
              <a:ea typeface="Times New Roman"/>
              <a:cs typeface="Times New Roman"/>
              <a:sym typeface="Times New Roman"/>
            </a:endParaRPr>
          </a:p>
          <a:p>
            <a:pPr marL="12700" lvl="0" indent="0" algn="just" rtl="0">
              <a:lnSpc>
                <a:spcPct val="115000"/>
              </a:lnSpc>
              <a:spcBef>
                <a:spcPts val="0"/>
              </a:spcBef>
              <a:spcAft>
                <a:spcPts val="0"/>
              </a:spcAft>
              <a:buNone/>
            </a:pPr>
            <a:r>
              <a:rPr lang="en-IN" sz="2200" dirty="0">
                <a:solidFill>
                  <a:schemeClr val="tx1"/>
                </a:solidFill>
                <a:latin typeface="Times New Roman"/>
                <a:ea typeface="Times New Roman"/>
                <a:cs typeface="Times New Roman"/>
                <a:sym typeface="Times New Roman"/>
              </a:rPr>
              <a:t>•MAE (Mean Absolute Error): Average size of errors.</a:t>
            </a:r>
            <a:endParaRPr sz="2200" dirty="0">
              <a:solidFill>
                <a:schemeClr val="tx1"/>
              </a:solidFill>
              <a:latin typeface="Times New Roman"/>
              <a:ea typeface="Times New Roman"/>
              <a:cs typeface="Times New Roman"/>
              <a:sym typeface="Times New Roman"/>
            </a:endParaRPr>
          </a:p>
          <a:p>
            <a:pPr marL="12700" lvl="0" indent="0" algn="just" rtl="0">
              <a:lnSpc>
                <a:spcPct val="115000"/>
              </a:lnSpc>
              <a:spcBef>
                <a:spcPts val="0"/>
              </a:spcBef>
              <a:spcAft>
                <a:spcPts val="0"/>
              </a:spcAft>
              <a:buNone/>
            </a:pPr>
            <a:r>
              <a:rPr lang="en-IN" sz="2200" dirty="0">
                <a:solidFill>
                  <a:schemeClr val="tx1"/>
                </a:solidFill>
                <a:latin typeface="Times New Roman"/>
                <a:ea typeface="Times New Roman"/>
                <a:cs typeface="Times New Roman"/>
                <a:sym typeface="Times New Roman"/>
              </a:rPr>
              <a:t>•MSE (Mean Squared Error): Larger errors are punished more.</a:t>
            </a:r>
            <a:endParaRPr sz="2200" dirty="0">
              <a:solidFill>
                <a:schemeClr val="tx1"/>
              </a:solidFill>
              <a:latin typeface="Times New Roman"/>
              <a:ea typeface="Times New Roman"/>
              <a:cs typeface="Times New Roman"/>
              <a:sym typeface="Times New Roman"/>
            </a:endParaRPr>
          </a:p>
          <a:p>
            <a:pPr marL="12700" lvl="0" indent="0" algn="just" rtl="0">
              <a:lnSpc>
                <a:spcPct val="115000"/>
              </a:lnSpc>
              <a:spcBef>
                <a:spcPts val="0"/>
              </a:spcBef>
              <a:spcAft>
                <a:spcPts val="0"/>
              </a:spcAft>
              <a:buNone/>
            </a:pPr>
            <a:r>
              <a:rPr lang="en-IN" sz="2200" dirty="0">
                <a:solidFill>
                  <a:schemeClr val="tx1"/>
                </a:solidFill>
                <a:latin typeface="Times New Roman"/>
                <a:ea typeface="Times New Roman"/>
                <a:cs typeface="Times New Roman"/>
                <a:sym typeface="Times New Roman"/>
              </a:rPr>
              <a:t>•RMSE: Easy to read version of MSE, in the same unit as output.</a:t>
            </a:r>
            <a:endParaRPr sz="2200" dirty="0">
              <a:solidFill>
                <a:schemeClr val="tx1"/>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IN" sz="2200" b="1" dirty="0">
                <a:solidFill>
                  <a:schemeClr val="tx1"/>
                </a:solidFill>
                <a:latin typeface="Times New Roman"/>
                <a:ea typeface="Times New Roman"/>
                <a:cs typeface="Times New Roman"/>
                <a:sym typeface="Times New Roman"/>
              </a:rPr>
              <a:t>2.Residuals (Errors):</a:t>
            </a:r>
            <a:endParaRPr sz="2200" b="1" dirty="0">
              <a:solidFill>
                <a:schemeClr val="tx1"/>
              </a:solidFill>
              <a:latin typeface="Times New Roman"/>
              <a:ea typeface="Times New Roman"/>
              <a:cs typeface="Times New Roman"/>
              <a:sym typeface="Times New Roman"/>
            </a:endParaRPr>
          </a:p>
          <a:p>
            <a:pPr marL="12700" lvl="0" indent="0" algn="just" rtl="0">
              <a:lnSpc>
                <a:spcPct val="115000"/>
              </a:lnSpc>
              <a:spcBef>
                <a:spcPts val="0"/>
              </a:spcBef>
              <a:spcAft>
                <a:spcPts val="0"/>
              </a:spcAft>
              <a:buNone/>
            </a:pPr>
            <a:r>
              <a:rPr lang="en-IN" sz="2200" dirty="0">
                <a:solidFill>
                  <a:schemeClr val="tx1"/>
                </a:solidFill>
                <a:latin typeface="Times New Roman"/>
                <a:ea typeface="Times New Roman"/>
                <a:cs typeface="Times New Roman"/>
                <a:sym typeface="Times New Roman"/>
              </a:rPr>
              <a:t>•Residual = Actual − Predicted.</a:t>
            </a:r>
            <a:endParaRPr sz="2200" dirty="0">
              <a:solidFill>
                <a:schemeClr val="tx1"/>
              </a:solidFill>
              <a:latin typeface="Times New Roman"/>
              <a:ea typeface="Times New Roman"/>
              <a:cs typeface="Times New Roman"/>
              <a:sym typeface="Times New Roman"/>
            </a:endParaRPr>
          </a:p>
          <a:p>
            <a:pPr marL="12700" lvl="0" indent="0" algn="just" rtl="0">
              <a:lnSpc>
                <a:spcPct val="115000"/>
              </a:lnSpc>
              <a:spcBef>
                <a:spcPts val="0"/>
              </a:spcBef>
              <a:spcAft>
                <a:spcPts val="0"/>
              </a:spcAft>
              <a:buNone/>
            </a:pPr>
            <a:r>
              <a:rPr lang="en-IN" sz="2200" dirty="0">
                <a:solidFill>
                  <a:schemeClr val="tx1"/>
                </a:solidFill>
                <a:latin typeface="Times New Roman"/>
                <a:ea typeface="Times New Roman"/>
                <a:cs typeface="Times New Roman"/>
                <a:sym typeface="Times New Roman"/>
              </a:rPr>
              <a:t>•Plot residuals → should look random.</a:t>
            </a:r>
            <a:endParaRPr sz="2200" dirty="0">
              <a:solidFill>
                <a:schemeClr val="tx1"/>
              </a:solidFill>
              <a:latin typeface="Times New Roman"/>
              <a:ea typeface="Times New Roman"/>
              <a:cs typeface="Times New Roman"/>
              <a:sym typeface="Times New Roman"/>
            </a:endParaRPr>
          </a:p>
          <a:p>
            <a:pPr marL="12700" lvl="0" indent="0" algn="just" rtl="0">
              <a:lnSpc>
                <a:spcPct val="115000"/>
              </a:lnSpc>
              <a:spcBef>
                <a:spcPts val="0"/>
              </a:spcBef>
              <a:spcAft>
                <a:spcPts val="0"/>
              </a:spcAft>
              <a:buNone/>
            </a:pPr>
            <a:r>
              <a:rPr lang="en-IN" sz="2200" dirty="0">
                <a:solidFill>
                  <a:schemeClr val="tx1"/>
                </a:solidFill>
                <a:latin typeface="Times New Roman"/>
                <a:ea typeface="Times New Roman"/>
                <a:cs typeface="Times New Roman"/>
                <a:sym typeface="Times New Roman"/>
              </a:rPr>
              <a:t>•If there’s a pattern, model might be missing something.</a:t>
            </a:r>
            <a:endParaRPr sz="2200" dirty="0">
              <a:solidFill>
                <a:schemeClr val="tx1"/>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IN" sz="2200" b="1" dirty="0">
                <a:solidFill>
                  <a:schemeClr val="tx1"/>
                </a:solidFill>
                <a:latin typeface="Times New Roman"/>
                <a:ea typeface="Times New Roman"/>
                <a:cs typeface="Times New Roman"/>
                <a:sym typeface="Times New Roman"/>
              </a:rPr>
              <a:t>3.Predicted vs Actual Plot:</a:t>
            </a:r>
            <a:endParaRPr sz="2200" b="1" dirty="0">
              <a:solidFill>
                <a:schemeClr val="tx1"/>
              </a:solidFill>
              <a:latin typeface="Times New Roman"/>
              <a:ea typeface="Times New Roman"/>
              <a:cs typeface="Times New Roman"/>
              <a:sym typeface="Times New Roman"/>
            </a:endParaRPr>
          </a:p>
          <a:p>
            <a:pPr marL="12700" lvl="0" indent="0" algn="just" rtl="0">
              <a:lnSpc>
                <a:spcPct val="115000"/>
              </a:lnSpc>
              <a:spcBef>
                <a:spcPts val="0"/>
              </a:spcBef>
              <a:spcAft>
                <a:spcPts val="0"/>
              </a:spcAft>
              <a:buNone/>
            </a:pPr>
            <a:r>
              <a:rPr lang="en-IN" sz="2200" dirty="0">
                <a:solidFill>
                  <a:schemeClr val="tx1"/>
                </a:solidFill>
                <a:latin typeface="Times New Roman"/>
                <a:ea typeface="Times New Roman"/>
                <a:cs typeface="Times New Roman"/>
                <a:sym typeface="Times New Roman"/>
              </a:rPr>
              <a:t>•Compare predicted output vs actual.</a:t>
            </a:r>
            <a:endParaRPr sz="2200" dirty="0">
              <a:solidFill>
                <a:schemeClr val="tx1"/>
              </a:solidFill>
              <a:latin typeface="Times New Roman"/>
              <a:ea typeface="Times New Roman"/>
              <a:cs typeface="Times New Roman"/>
              <a:sym typeface="Times New Roman"/>
            </a:endParaRPr>
          </a:p>
          <a:p>
            <a:pPr marL="12700" lvl="0" indent="0" algn="just" rtl="0">
              <a:lnSpc>
                <a:spcPct val="115000"/>
              </a:lnSpc>
              <a:spcBef>
                <a:spcPts val="0"/>
              </a:spcBef>
              <a:spcAft>
                <a:spcPts val="0"/>
              </a:spcAft>
              <a:buNone/>
            </a:pPr>
            <a:r>
              <a:rPr lang="en-IN" sz="2200" dirty="0">
                <a:solidFill>
                  <a:schemeClr val="tx1"/>
                </a:solidFill>
                <a:latin typeface="Times New Roman"/>
                <a:ea typeface="Times New Roman"/>
                <a:cs typeface="Times New Roman"/>
                <a:sym typeface="Times New Roman"/>
              </a:rPr>
              <a:t>•If points are close to the 45° line, predictions are good.</a:t>
            </a:r>
            <a:endParaRPr sz="2200" dirty="0">
              <a:solidFill>
                <a:schemeClr val="tx1"/>
              </a:solidFill>
              <a:latin typeface="Times New Roman"/>
              <a:ea typeface="Times New Roman"/>
              <a:cs typeface="Times New Roman"/>
              <a:sym typeface="Times New Roman"/>
            </a:endParaRPr>
          </a:p>
          <a:p>
            <a:pPr marL="12700" lvl="0" indent="0" algn="just" rtl="0">
              <a:lnSpc>
                <a:spcPct val="115000"/>
              </a:lnSpc>
              <a:spcBef>
                <a:spcPts val="0"/>
              </a:spcBef>
              <a:spcAft>
                <a:spcPts val="0"/>
              </a:spcAft>
              <a:buNone/>
            </a:pPr>
            <a:r>
              <a:rPr lang="en-IN" sz="2200" dirty="0">
                <a:solidFill>
                  <a:schemeClr val="tx1"/>
                </a:solidFill>
                <a:latin typeface="Times New Roman"/>
                <a:ea typeface="Times New Roman"/>
                <a:cs typeface="Times New Roman"/>
                <a:sym typeface="Times New Roman"/>
              </a:rPr>
              <a:t>•Performance Across Conditions:</a:t>
            </a:r>
            <a:endParaRPr sz="2200" dirty="0">
              <a:solidFill>
                <a:schemeClr val="tx1"/>
              </a:solidFill>
              <a:latin typeface="Times New Roman"/>
              <a:ea typeface="Times New Roman"/>
              <a:cs typeface="Times New Roman"/>
              <a:sym typeface="Times New Roman"/>
            </a:endParaRPr>
          </a:p>
          <a:p>
            <a:pPr marL="12700" lvl="0" indent="0" algn="just" rtl="0">
              <a:lnSpc>
                <a:spcPct val="115000"/>
              </a:lnSpc>
              <a:spcBef>
                <a:spcPts val="0"/>
              </a:spcBef>
              <a:spcAft>
                <a:spcPts val="0"/>
              </a:spcAft>
              <a:buNone/>
            </a:pPr>
            <a:r>
              <a:rPr lang="en-IN" sz="2200" dirty="0">
                <a:solidFill>
                  <a:schemeClr val="tx1"/>
                </a:solidFill>
                <a:latin typeface="Times New Roman"/>
                <a:ea typeface="Times New Roman"/>
                <a:cs typeface="Times New Roman"/>
                <a:sym typeface="Times New Roman"/>
              </a:rPr>
              <a:t>•Check if the model works well in all shifts, machine types, etc.</a:t>
            </a:r>
            <a:endParaRPr sz="2200" dirty="0">
              <a:solidFill>
                <a:schemeClr val="tx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2"/>
          <p:cNvSpPr txBox="1"/>
          <p:nvPr/>
        </p:nvSpPr>
        <p:spPr>
          <a:xfrm>
            <a:off x="604285" y="304800"/>
            <a:ext cx="10417500" cy="6714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rgbClr val="2F5496"/>
              </a:solidFill>
              <a:latin typeface="Times New Roman"/>
              <a:ea typeface="Times New Roman"/>
              <a:cs typeface="Times New Roman"/>
              <a:sym typeface="Times New Roman"/>
            </a:endParaRPr>
          </a:p>
          <a:p>
            <a:pPr marL="0" lvl="0" indent="0" algn="l" rtl="0">
              <a:spcBef>
                <a:spcPts val="0"/>
              </a:spcBef>
              <a:spcAft>
                <a:spcPts val="0"/>
              </a:spcAft>
              <a:buClr>
                <a:schemeClr val="dk1"/>
              </a:buClr>
              <a:buFont typeface="Arial"/>
              <a:buNone/>
            </a:pPr>
            <a:r>
              <a:rPr lang="en-IN" sz="4000" dirty="0">
                <a:solidFill>
                  <a:srgbClr val="2F5496"/>
                </a:solidFill>
                <a:latin typeface="Times New Roman"/>
                <a:ea typeface="Times New Roman"/>
                <a:cs typeface="Times New Roman"/>
                <a:sym typeface="Times New Roman"/>
              </a:rPr>
              <a:t>Stream API Deployment (</a:t>
            </a:r>
            <a:r>
              <a:rPr lang="en-IN" sz="4000" dirty="0" err="1">
                <a:solidFill>
                  <a:srgbClr val="2F5496"/>
                </a:solidFill>
                <a:latin typeface="Times New Roman"/>
                <a:ea typeface="Times New Roman"/>
                <a:cs typeface="Times New Roman"/>
                <a:sym typeface="Times New Roman"/>
              </a:rPr>
              <a:t>Streamlit</a:t>
            </a:r>
            <a:r>
              <a:rPr lang="en-IN" sz="4000" dirty="0">
                <a:solidFill>
                  <a:srgbClr val="2F5496"/>
                </a:solidFill>
                <a:latin typeface="Times New Roman"/>
                <a:ea typeface="Times New Roman"/>
                <a:cs typeface="Times New Roman"/>
                <a:sym typeface="Times New Roman"/>
              </a:rPr>
              <a:t>)</a:t>
            </a:r>
            <a:endParaRPr sz="4000" dirty="0">
              <a:solidFill>
                <a:srgbClr val="2F5496"/>
              </a:solidFill>
              <a:latin typeface="Times New Roman"/>
              <a:ea typeface="Times New Roman"/>
              <a:cs typeface="Times New Roman"/>
              <a:sym typeface="Times New Roman"/>
            </a:endParaRPr>
          </a:p>
          <a:p>
            <a:pPr marL="0" lvl="0" indent="0" algn="l" rtl="0">
              <a:lnSpc>
                <a:spcPct val="115000"/>
              </a:lnSpc>
              <a:spcBef>
                <a:spcPts val="1400"/>
              </a:spcBef>
              <a:spcAft>
                <a:spcPts val="0"/>
              </a:spcAft>
              <a:buClr>
                <a:schemeClr val="dk1"/>
              </a:buClr>
              <a:buSzPts val="1100"/>
              <a:buFont typeface="Arial"/>
              <a:buNone/>
            </a:pPr>
            <a:endParaRPr sz="1300" b="1" dirty="0">
              <a:solidFill>
                <a:srgbClr val="2F5496"/>
              </a:solidFill>
            </a:endParaRPr>
          </a:p>
          <a:p>
            <a:pPr marL="457200" lvl="0" indent="-368300" algn="l" rtl="0">
              <a:lnSpc>
                <a:spcPct val="115000"/>
              </a:lnSpc>
              <a:spcBef>
                <a:spcPts val="1200"/>
              </a:spcBef>
              <a:spcAft>
                <a:spcPts val="0"/>
              </a:spcAft>
              <a:buClr>
                <a:srgbClr val="2F5496"/>
              </a:buClr>
              <a:buSzPts val="2200"/>
              <a:buChar char="●"/>
            </a:pPr>
            <a:r>
              <a:rPr lang="en-IN" sz="2200" dirty="0">
                <a:solidFill>
                  <a:schemeClr val="tx1"/>
                </a:solidFill>
                <a:latin typeface="Times New Roman"/>
                <a:ea typeface="Times New Roman"/>
                <a:cs typeface="Times New Roman"/>
                <a:sym typeface="Times New Roman"/>
              </a:rPr>
              <a:t>We developed an </a:t>
            </a:r>
            <a:r>
              <a:rPr lang="en-IN" sz="2200" b="1" dirty="0">
                <a:solidFill>
                  <a:schemeClr val="tx1"/>
                </a:solidFill>
                <a:latin typeface="Times New Roman"/>
                <a:ea typeface="Times New Roman"/>
                <a:cs typeface="Times New Roman"/>
                <a:sym typeface="Times New Roman"/>
              </a:rPr>
              <a:t>interactive </a:t>
            </a:r>
            <a:r>
              <a:rPr lang="en-IN" sz="2200" b="1" dirty="0" err="1">
                <a:solidFill>
                  <a:schemeClr val="tx1"/>
                </a:solidFill>
                <a:latin typeface="Times New Roman"/>
                <a:ea typeface="Times New Roman"/>
                <a:cs typeface="Times New Roman"/>
                <a:sym typeface="Times New Roman"/>
              </a:rPr>
              <a:t>Streamlit</a:t>
            </a:r>
            <a:r>
              <a:rPr lang="en-IN" sz="2200" b="1" dirty="0">
                <a:solidFill>
                  <a:schemeClr val="tx1"/>
                </a:solidFill>
                <a:latin typeface="Times New Roman"/>
                <a:ea typeface="Times New Roman"/>
                <a:cs typeface="Times New Roman"/>
                <a:sym typeface="Times New Roman"/>
              </a:rPr>
              <a:t> app</a:t>
            </a:r>
            <a:r>
              <a:rPr lang="en-IN" sz="2200" dirty="0">
                <a:solidFill>
                  <a:schemeClr val="tx1"/>
                </a:solidFill>
                <a:latin typeface="Times New Roman"/>
                <a:ea typeface="Times New Roman"/>
                <a:cs typeface="Times New Roman"/>
                <a:sym typeface="Times New Roman"/>
              </a:rPr>
              <a:t> to deploy the linear regression model.</a:t>
            </a:r>
            <a:br>
              <a:rPr lang="en-IN" sz="2200" dirty="0">
                <a:solidFill>
                  <a:schemeClr val="tx1"/>
                </a:solidFill>
                <a:latin typeface="Times New Roman"/>
                <a:ea typeface="Times New Roman"/>
                <a:cs typeface="Times New Roman"/>
                <a:sym typeface="Times New Roman"/>
              </a:rPr>
            </a:br>
            <a:endParaRPr sz="2200" dirty="0">
              <a:solidFill>
                <a:schemeClr val="tx1"/>
              </a:solidFill>
              <a:latin typeface="Times New Roman"/>
              <a:ea typeface="Times New Roman"/>
              <a:cs typeface="Times New Roman"/>
              <a:sym typeface="Times New Roman"/>
            </a:endParaRPr>
          </a:p>
          <a:p>
            <a:pPr marL="457200" lvl="0" indent="-368300" algn="l" rtl="0">
              <a:lnSpc>
                <a:spcPct val="115000"/>
              </a:lnSpc>
              <a:spcBef>
                <a:spcPts val="0"/>
              </a:spcBef>
              <a:spcAft>
                <a:spcPts val="0"/>
              </a:spcAft>
              <a:buClr>
                <a:srgbClr val="2F5496"/>
              </a:buClr>
              <a:buSzPts val="2200"/>
              <a:buChar char="●"/>
            </a:pPr>
            <a:r>
              <a:rPr lang="en-IN" sz="2200" dirty="0">
                <a:solidFill>
                  <a:schemeClr val="tx1"/>
                </a:solidFill>
                <a:latin typeface="Times New Roman"/>
                <a:ea typeface="Times New Roman"/>
                <a:cs typeface="Times New Roman"/>
                <a:sym typeface="Times New Roman"/>
              </a:rPr>
              <a:t>The app provides </a:t>
            </a:r>
            <a:r>
              <a:rPr lang="en-IN" sz="2200" b="1" dirty="0">
                <a:solidFill>
                  <a:schemeClr val="tx1"/>
                </a:solidFill>
                <a:latin typeface="Times New Roman"/>
                <a:ea typeface="Times New Roman"/>
                <a:cs typeface="Times New Roman"/>
                <a:sym typeface="Times New Roman"/>
              </a:rPr>
              <a:t>user-friendly input fields</a:t>
            </a:r>
            <a:r>
              <a:rPr lang="en-IN" sz="2200" dirty="0">
                <a:solidFill>
                  <a:schemeClr val="tx1"/>
                </a:solidFill>
                <a:latin typeface="Times New Roman"/>
                <a:ea typeface="Times New Roman"/>
                <a:cs typeface="Times New Roman"/>
                <a:sym typeface="Times New Roman"/>
              </a:rPr>
              <a:t> for machine operating parameters such as temperature, pressure, cycle time, and material viscosity.</a:t>
            </a:r>
            <a:br>
              <a:rPr lang="en-IN" sz="2200" dirty="0">
                <a:solidFill>
                  <a:schemeClr val="tx1"/>
                </a:solidFill>
                <a:latin typeface="Times New Roman"/>
                <a:ea typeface="Times New Roman"/>
                <a:cs typeface="Times New Roman"/>
                <a:sym typeface="Times New Roman"/>
              </a:rPr>
            </a:br>
            <a:endParaRPr sz="2200" dirty="0">
              <a:solidFill>
                <a:schemeClr val="tx1"/>
              </a:solidFill>
              <a:latin typeface="Times New Roman"/>
              <a:ea typeface="Times New Roman"/>
              <a:cs typeface="Times New Roman"/>
              <a:sym typeface="Times New Roman"/>
            </a:endParaRPr>
          </a:p>
          <a:p>
            <a:pPr marL="457200" lvl="0" indent="-368300" algn="l" rtl="0">
              <a:lnSpc>
                <a:spcPct val="115000"/>
              </a:lnSpc>
              <a:spcBef>
                <a:spcPts val="0"/>
              </a:spcBef>
              <a:spcAft>
                <a:spcPts val="0"/>
              </a:spcAft>
              <a:buClr>
                <a:srgbClr val="2F5496"/>
              </a:buClr>
              <a:buSzPts val="2200"/>
              <a:buChar char="●"/>
            </a:pPr>
            <a:r>
              <a:rPr lang="en-IN" sz="2200" dirty="0">
                <a:solidFill>
                  <a:schemeClr val="tx1"/>
                </a:solidFill>
                <a:latin typeface="Times New Roman"/>
                <a:ea typeface="Times New Roman"/>
                <a:cs typeface="Times New Roman"/>
                <a:sym typeface="Times New Roman"/>
              </a:rPr>
              <a:t>Once inputs are given, the model generates </a:t>
            </a:r>
            <a:r>
              <a:rPr lang="en-IN" sz="2200" b="1" dirty="0">
                <a:solidFill>
                  <a:schemeClr val="tx1"/>
                </a:solidFill>
                <a:latin typeface="Times New Roman"/>
                <a:ea typeface="Times New Roman"/>
                <a:cs typeface="Times New Roman"/>
                <a:sym typeface="Times New Roman"/>
              </a:rPr>
              <a:t>predictions of hourly machine output (parts produced per hour)</a:t>
            </a:r>
            <a:r>
              <a:rPr lang="en-IN" sz="2200" dirty="0">
                <a:solidFill>
                  <a:schemeClr val="tx1"/>
                </a:solidFill>
                <a:latin typeface="Times New Roman"/>
                <a:ea typeface="Times New Roman"/>
                <a:cs typeface="Times New Roman"/>
                <a:sym typeface="Times New Roman"/>
              </a:rPr>
              <a:t> in real time.</a:t>
            </a:r>
            <a:br>
              <a:rPr lang="en-IN" sz="2200" dirty="0">
                <a:solidFill>
                  <a:schemeClr val="tx1"/>
                </a:solidFill>
                <a:latin typeface="Times New Roman"/>
                <a:ea typeface="Times New Roman"/>
                <a:cs typeface="Times New Roman"/>
                <a:sym typeface="Times New Roman"/>
              </a:rPr>
            </a:br>
            <a:endParaRPr sz="2200" dirty="0">
              <a:solidFill>
                <a:schemeClr val="tx1"/>
              </a:solidFill>
              <a:latin typeface="Times New Roman"/>
              <a:ea typeface="Times New Roman"/>
              <a:cs typeface="Times New Roman"/>
              <a:sym typeface="Times New Roman"/>
            </a:endParaRPr>
          </a:p>
          <a:p>
            <a:pPr marL="457200" lvl="0" indent="-368300" algn="l" rtl="0">
              <a:lnSpc>
                <a:spcPct val="115000"/>
              </a:lnSpc>
              <a:spcBef>
                <a:spcPts val="0"/>
              </a:spcBef>
              <a:spcAft>
                <a:spcPts val="0"/>
              </a:spcAft>
              <a:buClr>
                <a:srgbClr val="2F5496"/>
              </a:buClr>
              <a:buSzPts val="2200"/>
              <a:buFont typeface="Times New Roman"/>
              <a:buChar char="●"/>
            </a:pPr>
            <a:r>
              <a:rPr lang="en-IN" sz="2200" dirty="0">
                <a:solidFill>
                  <a:schemeClr val="tx1"/>
                </a:solidFill>
                <a:latin typeface="Times New Roman"/>
                <a:ea typeface="Times New Roman"/>
                <a:cs typeface="Times New Roman"/>
                <a:sym typeface="Times New Roman"/>
              </a:rPr>
              <a:t>The interface is simple, making it easy for operators to use without technical expertise.</a:t>
            </a:r>
            <a:br>
              <a:rPr lang="en-IN" sz="2200" dirty="0">
                <a:solidFill>
                  <a:schemeClr val="tx1"/>
                </a:solidFill>
                <a:latin typeface="Times New Roman"/>
                <a:ea typeface="Times New Roman"/>
                <a:cs typeface="Times New Roman"/>
                <a:sym typeface="Times New Roman"/>
              </a:rPr>
            </a:br>
            <a:endParaRPr sz="2200" dirty="0">
              <a:solidFill>
                <a:schemeClr val="tx1"/>
              </a:solidFill>
              <a:latin typeface="Times New Roman"/>
              <a:ea typeface="Times New Roman"/>
              <a:cs typeface="Times New Roman"/>
              <a:sym typeface="Times New Roman"/>
            </a:endParaRPr>
          </a:p>
          <a:p>
            <a:pPr marL="457200" lvl="0" indent="-368300" algn="l" rtl="0">
              <a:lnSpc>
                <a:spcPct val="115000"/>
              </a:lnSpc>
              <a:spcBef>
                <a:spcPts val="0"/>
              </a:spcBef>
              <a:spcAft>
                <a:spcPts val="0"/>
              </a:spcAft>
              <a:buClr>
                <a:srgbClr val="2F5496"/>
              </a:buClr>
              <a:buSzPts val="2200"/>
              <a:buChar char="●"/>
            </a:pPr>
            <a:r>
              <a:rPr lang="en-IN" sz="2200" dirty="0">
                <a:solidFill>
                  <a:schemeClr val="tx1"/>
                </a:solidFill>
                <a:latin typeface="Times New Roman"/>
                <a:ea typeface="Times New Roman"/>
                <a:cs typeface="Times New Roman"/>
                <a:sym typeface="Times New Roman"/>
              </a:rPr>
              <a:t>The app also includes </a:t>
            </a:r>
            <a:r>
              <a:rPr lang="en-IN" sz="2200" b="1" dirty="0">
                <a:solidFill>
                  <a:schemeClr val="tx1"/>
                </a:solidFill>
                <a:latin typeface="Times New Roman"/>
                <a:ea typeface="Times New Roman"/>
                <a:cs typeface="Times New Roman"/>
                <a:sym typeface="Times New Roman"/>
              </a:rPr>
              <a:t>basic error handling</a:t>
            </a:r>
            <a:r>
              <a:rPr lang="en-IN" sz="2200" dirty="0">
                <a:solidFill>
                  <a:schemeClr val="tx1"/>
                </a:solidFill>
                <a:latin typeface="Times New Roman"/>
                <a:ea typeface="Times New Roman"/>
                <a:cs typeface="Times New Roman"/>
                <a:sym typeface="Times New Roman"/>
              </a:rPr>
              <a:t> to ensure smooth user experience with valid inputs.</a:t>
            </a:r>
            <a:endParaRPr sz="2200" dirty="0">
              <a:solidFill>
                <a:schemeClr val="tx1"/>
              </a:solidFill>
              <a:latin typeface="Times New Roman"/>
              <a:ea typeface="Times New Roman"/>
              <a:cs typeface="Times New Roman"/>
              <a:sym typeface="Times New Roman"/>
            </a:endParaRPr>
          </a:p>
          <a:p>
            <a:pPr marL="0" lvl="0" indent="0" algn="l" rtl="0">
              <a:spcBef>
                <a:spcPts val="1200"/>
              </a:spcBef>
              <a:spcAft>
                <a:spcPts val="0"/>
              </a:spcAft>
              <a:buNone/>
            </a:pPr>
            <a:endParaRPr sz="2200" dirty="0">
              <a:solidFill>
                <a:srgbClr val="2F5496"/>
              </a:solidFill>
              <a:latin typeface="Times New Roman"/>
              <a:ea typeface="Times New Roman"/>
              <a:cs typeface="Times New Roman"/>
              <a:sym typeface="Times New Roman"/>
            </a:endParaRPr>
          </a:p>
        </p:txBody>
      </p:sp>
      <p:pic>
        <p:nvPicPr>
          <p:cNvPr id="153" name="Google Shape;153;p12"/>
          <p:cNvPicPr preferRelativeResize="0"/>
          <p:nvPr/>
        </p:nvPicPr>
        <p:blipFill rotWithShape="1">
          <a:blip r:embed="rId3">
            <a:alphaModFix/>
          </a:blip>
          <a:srcRect/>
          <a:stretch/>
        </p:blipFill>
        <p:spPr>
          <a:xfrm>
            <a:off x="10232571" y="304800"/>
            <a:ext cx="1578429" cy="105591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3"/>
          <p:cNvSpPr txBox="1"/>
          <p:nvPr/>
        </p:nvSpPr>
        <p:spPr>
          <a:xfrm>
            <a:off x="887186" y="650107"/>
            <a:ext cx="10417500" cy="36563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rgbClr val="2F5496"/>
              </a:solidFill>
              <a:latin typeface="Times New Roman"/>
              <a:ea typeface="Times New Roman"/>
              <a:cs typeface="Times New Roman"/>
              <a:sym typeface="Times New Roman"/>
            </a:endParaRPr>
          </a:p>
          <a:p>
            <a:pPr marL="0" marR="0" lvl="0" indent="0" algn="l" rtl="0">
              <a:spcBef>
                <a:spcPts val="0"/>
              </a:spcBef>
              <a:spcAft>
                <a:spcPts val="0"/>
              </a:spcAft>
              <a:buNone/>
            </a:pPr>
            <a:r>
              <a:rPr lang="en-IN" sz="2800" b="1" dirty="0">
                <a:solidFill>
                  <a:srgbClr val="2F5496"/>
                </a:solidFill>
                <a:latin typeface="Times New Roman"/>
                <a:ea typeface="Times New Roman"/>
                <a:cs typeface="Times New Roman"/>
                <a:sym typeface="Times New Roman"/>
              </a:rPr>
              <a:t>                                               Conclusion</a:t>
            </a:r>
            <a:endParaRPr sz="2800" b="1" dirty="0">
              <a:solidFill>
                <a:srgbClr val="2F5496"/>
              </a:solidFill>
              <a:latin typeface="Times New Roman"/>
              <a:ea typeface="Times New Roman"/>
              <a:cs typeface="Times New Roman"/>
              <a:sym typeface="Times New Roman"/>
            </a:endParaRPr>
          </a:p>
          <a:p>
            <a:pPr lvl="0">
              <a:lnSpc>
                <a:spcPct val="115000"/>
              </a:lnSpc>
              <a:spcBef>
                <a:spcPts val="1200"/>
              </a:spcBef>
              <a:buClr>
                <a:schemeClr val="dk1"/>
              </a:buClr>
              <a:buSzPts val="1100"/>
            </a:pPr>
            <a:endParaRPr lang="en-US" sz="2400" dirty="0">
              <a:latin typeface="Times New Roman" panose="02020603050405020304" pitchFamily="18" charset="0"/>
              <a:cs typeface="Times New Roman" panose="02020603050405020304" pitchFamily="18" charset="0"/>
            </a:endParaRPr>
          </a:p>
          <a:p>
            <a:pPr lvl="0" algn="just">
              <a:lnSpc>
                <a:spcPct val="115000"/>
              </a:lnSpc>
              <a:spcBef>
                <a:spcPts val="1200"/>
              </a:spcBef>
              <a:buClr>
                <a:schemeClr val="dk1"/>
              </a:buClr>
              <a:buSzPts val="1100"/>
            </a:pPr>
            <a:r>
              <a:rPr lang="en-US" sz="2400" dirty="0">
                <a:latin typeface="Times New Roman" panose="02020603050405020304" pitchFamily="18" charset="0"/>
                <a:cs typeface="Times New Roman" panose="02020603050405020304" pitchFamily="18" charset="0"/>
              </a:rPr>
              <a:t>This project successfully developed a Linear Regression model to predict manufacturing equipment output using machine operating parameters. The model helped identify key factors that influence production efficiency, such as cycle time, machine age, and operator experience. Performance evaluation showed good prediction accuracy, making it useful for real-time decision-making. </a:t>
            </a:r>
            <a:endParaRPr sz="1800" dirty="0">
              <a:solidFill>
                <a:srgbClr val="2F5496"/>
              </a:solidFill>
              <a:latin typeface="Times New Roman" panose="02020603050405020304" pitchFamily="18" charset="0"/>
              <a:ea typeface="Times New Roman"/>
              <a:cs typeface="Times New Roman" panose="02020603050405020304" pitchFamily="18" charset="0"/>
              <a:sym typeface="Times New Roman"/>
            </a:endParaRPr>
          </a:p>
        </p:txBody>
      </p:sp>
      <p:pic>
        <p:nvPicPr>
          <p:cNvPr id="165" name="Google Shape;165;p13"/>
          <p:cNvPicPr preferRelativeResize="0"/>
          <p:nvPr/>
        </p:nvPicPr>
        <p:blipFill rotWithShape="1">
          <a:blip r:embed="rId3">
            <a:alphaModFix/>
          </a:blip>
          <a:srcRect/>
          <a:stretch/>
        </p:blipFill>
        <p:spPr>
          <a:xfrm>
            <a:off x="10232571" y="304800"/>
            <a:ext cx="1578429" cy="105591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TotalTime>
  <Words>1004</Words>
  <Application>Microsoft Office PowerPoint</Application>
  <PresentationFormat>Widescreen</PresentationFormat>
  <Paragraphs>129</Paragraphs>
  <Slides>13</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Anta</vt:lpstr>
      <vt:lpstr>Arial</vt:lpstr>
      <vt:lpstr>Calibri</vt:lpstr>
      <vt:lpstr>Times New Roman</vt:lpstr>
      <vt:lpstr>Wingdings</vt:lpstr>
      <vt:lpstr>Office Theme</vt:lpstr>
      <vt:lpstr>     Capstone Project 1  MANUFACTURING  EQUIPMENT  OUTPUT PREDICTION  WITH  LINEAR  REGRESSION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TNS INDIA FOUNDATION</dc:creator>
  <cp:lastModifiedBy>Vijay M</cp:lastModifiedBy>
  <cp:revision>6</cp:revision>
  <dcterms:created xsi:type="dcterms:W3CDTF">2025-09-02T04:26:51Z</dcterms:created>
  <dcterms:modified xsi:type="dcterms:W3CDTF">2026-02-27T15:32:21Z</dcterms:modified>
</cp:coreProperties>
</file>